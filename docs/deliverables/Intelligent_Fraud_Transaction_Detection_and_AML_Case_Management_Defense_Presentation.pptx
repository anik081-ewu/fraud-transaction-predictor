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EM-AUC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Isolation Forest</c:v>
              </c:pt>
              <c:pt idx="1">
                <c:v>Autoencoder</c:v>
              </c:pt>
              <c:pt idx="2">
                <c:v>Behavioral Cluster Outlier</c:v>
              </c:pt>
            </c:strLit>
          </c:cat>
          <c:val>
            <c:numLit>
              <c:formatCode>General</c:formatCode>
              <c:ptCount val="3"/>
              <c:pt idx="0">
                <c:v>67.2</c:v>
              </c:pt>
              <c:pt idx="1">
                <c:v>85.6</c:v>
              </c:pt>
              <c:pt idx="2">
                <c:v>89.2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1DC-4FF1-873A-03E01F9977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8E0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framing this as a complete investigation platform, not only a classifier. The defense will separate measured evidence from demo-only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establish the four problems the architecture must solve together.</a:t>
            </a:r>
          </a:p>
          <a:p>
            <a:endParaRPr/>
          </a:p>
          <a:p>
            <a:r>
              <a:t>[Sources]</a:t>
            </a:r>
          </a:p>
          <a:p>
            <a:r>
              <a:t>- https://fraud-detection-handbook.github.io/fraud-detection-handbook/Chapter_4_PerformanceMetrics/Summary.html</a:t>
            </a:r>
          </a:p>
          <a:p>
            <a:r>
              <a:t>- https://proceedings.mlr.press/v151/bach-nguyen22a.html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distinction explicit: the project follows journal and handbook methods, but does not present published authors' numbers as its own.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https://github.com/Fraud-Detection-Handbook/fraud-detection-handbook</a:t>
            </a:r>
          </a:p>
          <a:p>
            <a:r>
              <a:t>- https://doi.org/10.1109/ICDM.2008.17</a:t>
            </a:r>
          </a:p>
          <a:p>
            <a:r>
              <a:t>- https://doi.org/10.1007/s10994-006-6226-1</a:t>
            </a:r>
          </a:p>
          <a:p>
            <a:r>
              <a:t>- https://doi.org/10.1145/2939672.2939785</a:t>
            </a:r>
          </a:p>
          <a:p>
            <a:r>
              <a:t>- https://proceedings.mlr.press/v38/goix15.html</a:t>
            </a:r>
          </a:p>
          <a:p>
            <a:r>
              <a:t>- https://arxiv.org/abs/1607.01152</a:t>
            </a:r>
          </a:p>
          <a:p>
            <a:r>
              <a:t>- https://proceedings.mlr.press/v151/bach-nguyen22a.html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rarity and chronological splitting matter. The fraud scenario identifier remains diagnostic metadata only.</a:t>
            </a:r>
          </a:p>
          <a:p>
            <a:endParaRPr/>
          </a:p>
          <a:p>
            <a:r>
              <a:t>[Sources]</a:t>
            </a:r>
          </a:p>
          <a:p>
            <a:r>
              <a:t>- https://fraud-detection-handbook.github.io/fraud-detection-handbook/Chapter_3_GettingStarted/SimulatedDataset.html</a:t>
            </a:r>
          </a:p>
          <a:p>
            <a:r>
              <a:t>- https://fraud-detection-handbook.github.io/fraud-detection-handbook/Chapter_3_GettingStarted/BaselineModeling.html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Settings page chooses the mode. Uploaded labelled rows support supervised learning; null labels are excluded. Unsupervised evidence remains available for clients without reviewed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that model votes alone do not equal the final score. Each component is normalized, weighted, versioned, and 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current measured values on the 50,000-row unlabeled snapshot. Explain why EM-AUC and anomaly rate are appropriate before confirmed labels exist.</a:t>
            </a:r>
          </a:p>
          <a:p>
            <a:endParaRPr/>
          </a:p>
          <a:p>
            <a:r>
              <a:t>[Sources]</a:t>
            </a:r>
          </a:p>
          <a:p>
            <a:r>
              <a:t>- https://proceedings.mlr.press/v38/goix15.html</a:t>
            </a:r>
          </a:p>
          <a:p>
            <a:r>
              <a:t>- https://arxiv.org/abs/1607.01152</a:t>
            </a:r>
          </a:p>
          <a:p>
            <a:r>
              <a:t>- https://doi.org/10.1109/ICDM.2008.17</a:t>
            </a:r>
          </a:p>
          <a:p>
            <a:r>
              <a:t>- https://doi.org/10.1145/2689746.2689747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comparison uses oldest-first 10%, 25%, 50%, and 100% partitions with the same chronological holdout logic. Results are cached by immutable snapshot so reopening a page does not rerun training.</a:t>
            </a:r>
          </a:p>
          <a:p>
            <a:endParaRPr/>
          </a:p>
          <a:p>
            <a:r>
              <a:t>[Sources]</a:t>
            </a:r>
          </a:p>
          <a:p>
            <a:r>
              <a:t>- https://fraud-detection-handbook.github.io/fraud-detection-handbook/Chapter_3_GettingStarted/BaselineModeling.html</a:t>
            </a:r>
          </a:p>
          <a:p>
            <a:r>
              <a:t>- https://proceedings.mlr.press/v151/bach-nguyen22a.html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threshold is not manipulated to force 90% precision. It is chosen once on calibration data under an explicit business constraint, then evaluated on untouched data.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https://doi.org/10.1145/2939672.2939785</a:t>
            </a:r>
          </a:p>
          <a:p>
            <a:r>
              <a:t>- https://doi.org/10.1023/A:1010933404324</a:t>
            </a:r>
          </a:p>
          <a:p>
            <a:r>
              <a:t>- https://doi.org/10.1007/s10994-006-6226-1</a:t>
            </a:r>
          </a:p>
          <a:p>
            <a:r>
              <a:t>- https://fraud-detection-handbook.github.io/fraud-detection-handbook/Chapter_4_PerformanceMetrics/TopKBased.html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strongest reproducible benchmark in the project. It demonstrates a useful precision-recall operating point without claiming deployment readiness.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https://github.com/Fraud-Detection-Handbook/fraud-detection-handbook</a:t>
            </a:r>
          </a:p>
          <a:p>
            <a:r>
              <a:t>- https://doi.org/10.1007/s10994-006-6226-1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demonstrate scientific honesty. Ensembles can improve robustness, but correlated errors and weak calibration can prevent a gain. Production therefore uses weighted registered base classifiers.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frozen policy used 25% customer behaviour, 10% peer behaviour, 60% ML, and 5% AML rules. The limitation is reported rather than hidden. Next work is calibration on a separate validation period and optimizing case/STR thresholds by investigator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264,500-row pipeline uses compact bounded features and immutable snapshots. Kafka can distribute committed transaction events and isolate back pressure, but SQL Server remains the audit and governance system of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administrator and analyst experience. Training creates candidates but does not silently activate them. MEDIUM creates a case; HIGH prepares draft STR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resolving the opening question: the architecture works, the strongest supervised model crosses 70% precision and recall, and the remaining weakness is specifically the calibration of the full layered policy—not an unexplained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0FB47FA-BE4A-4437-BF6C-B68F732D9F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B6361-1BFD-4EE8-9A9B-76F735EE3D62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ACADEMIC PROJECT DEFENSE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27E6EE-A5BC-431E-B0F0-F563AB2CF76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048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081A3A"/>
                </a:solidFill>
              </a:defRPr>
            </a:pPr>
            <a:r>
              <a:rPr sz="4050" b="1">
                <a:solidFill>
                  <a:srgbClr val="081A3A"/>
                </a:solidFill>
              </a:rPr>
              <a:t>Intelligent Fraud Transaction Detection</a:t>
            </a:r>
          </a:p>
          <a:p>
            <a:pPr algn="l">
              <a:defRPr sz="4050" b="1">
                <a:solidFill>
                  <a:srgbClr val="081A3A"/>
                </a:solidFill>
              </a:defRPr>
            </a:pPr>
            <a:r>
              <a:rPr sz="4050" b="1">
                <a:solidFill>
                  <a:srgbClr val="081A3A"/>
                </a:solidFill>
              </a:rPr>
              <a:t>and AML Case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017081-187D-46E2-AE72-581E5DB9C86F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885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E6F89"/>
                </a:solidFill>
              </a:defRPr>
            </a:pPr>
            <a:r>
              <a:rPr sz="1800" b="0">
                <a:solidFill>
                  <a:srgbClr val="5E6F89"/>
                </a:solidFill>
              </a:rPr>
              <a:t>A dual-mode, research-guided platform for anomaly discovery, supervised fraud classification, explainable risk scoring, and governed investigation.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1F5D4-D16A-4B91-96C0-ECC887E13A18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08204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68E02-6F5B-4A93-A461-E20DA2B48DF1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81A3A"/>
                </a:solidFill>
              </a:defRPr>
            </a:pPr>
            <a:r>
              <a:rPr sz="1275" b="1" dirty="0">
                <a:solidFill>
                  <a:srgbClr val="081A3A"/>
                </a:solidFill>
              </a:rPr>
              <a:t>Md. Mydul Islam Anik  •  MIT Project  •  August 2026</a:t>
            </a:r>
            <a:endParaRPr lang="en-US" sz="1275" b="1" dirty="0">
              <a:solidFill>
                <a:srgbClr val="081A3A"/>
              </a:solidFill>
            </a:endParaRPr>
          </a:p>
          <a:p>
            <a:pPr algn="l">
              <a:defRPr sz="1275" b="1">
                <a:solidFill>
                  <a:srgbClr val="081A3A"/>
                </a:solidFill>
              </a:defRPr>
            </a:pPr>
            <a:r>
              <a:rPr lang="en-US" sz="1275" b="1" dirty="0">
                <a:solidFill>
                  <a:srgbClr val="081A3A"/>
                </a:solidFill>
              </a:rPr>
              <a:t>Supervised By: Dr. B M  </a:t>
            </a:r>
            <a:r>
              <a:rPr lang="en-US" sz="1275" b="1" dirty="0" err="1">
                <a:solidFill>
                  <a:srgbClr val="081A3A"/>
                </a:solidFill>
              </a:rPr>
              <a:t>Mainul</a:t>
            </a:r>
            <a:r>
              <a:rPr lang="en-US" sz="1275" b="1" dirty="0">
                <a:solidFill>
                  <a:srgbClr val="081A3A"/>
                </a:solidFill>
              </a:rPr>
              <a:t> Hossain</a:t>
            </a:r>
            <a:endParaRPr sz="1275" b="1" dirty="0">
              <a:solidFill>
                <a:srgbClr val="081A3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449384-90F3-471C-819A-04BF764C6BD4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F89"/>
                </a:solidFill>
              </a:defRPr>
            </a:pPr>
            <a:r>
              <a:rPr sz="1200" b="0" dirty="0">
                <a:solidFill>
                  <a:srgbClr val="5E6F89"/>
                </a:solidFill>
              </a:rPr>
              <a:t>Institute of Information Technology (IIT), University of Dhaka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628ED3-24E4-4892-A815-0E929EF06050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D8DFF"/>
                </a:solidFill>
              </a:defRPr>
            </a:pPr>
            <a:endParaRPr sz="975" b="1" dirty="0">
              <a:solidFill>
                <a:srgbClr val="3D8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112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43941B0-F66F-4FB0-B7F6-97856C71BFD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THE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45061-08B8-4F17-83D3-18191A93695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Fraud monitoring fails when one constraint is solved in isolation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CDC56-8E3E-4BC2-8783-8B1210AADC6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79ACA9-EA77-422A-9108-62B0652BABD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0E2DE8-9CB1-491E-A2CA-585EB3233E63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56F5C-852B-4219-B39E-1556CD249C33}"/>
              </a:ext>
            </a:extLst>
          </p:cNvPr>
          <p:cNvSpPr>
            <a:spLocks noGrp="1"/>
          </p:cNvSpPr>
          <p:nvPr/>
        </p:nvSpPr>
        <p:spPr>
          <a:xfrm>
            <a:off x="1524000" y="16192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81A3A"/>
                </a:solidFill>
              </a:defRPr>
            </a:pPr>
            <a:r>
              <a:rPr sz="1875" b="1">
                <a:solidFill>
                  <a:srgbClr val="081A3A"/>
                </a:solidFill>
              </a:rPr>
              <a:t>Labels are often absent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FCA399-07F7-4049-BB33-2083D85CF753}"/>
              </a:ext>
            </a:extLst>
          </p:cNvPr>
          <p:cNvSpPr>
            <a:spLocks noGrp="1"/>
          </p:cNvSpPr>
          <p:nvPr/>
        </p:nvSpPr>
        <p:spPr>
          <a:xfrm>
            <a:off x="1524000" y="20002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A new client may have transactions but no reviewed fraud outcomes.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79132E-4D0B-4D6D-9536-74AA1B0C4001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892FB1-A776-4F24-B3BB-B10600A3C82B}"/>
              </a:ext>
            </a:extLst>
          </p:cNvPr>
          <p:cNvSpPr>
            <a:spLocks noGrp="1"/>
          </p:cNvSpPr>
          <p:nvPr/>
        </p:nvSpPr>
        <p:spPr>
          <a:xfrm>
            <a:off x="1524000" y="29908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81A3A"/>
                </a:solidFill>
              </a:defRPr>
            </a:pPr>
            <a:r>
              <a:rPr sz="1875" b="1">
                <a:solidFill>
                  <a:srgbClr val="081A3A"/>
                </a:solidFill>
              </a:rPr>
              <a:t>Fraud is rare and time-dependent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E1F224-3943-4FE7-8B1E-111FBC9CFC7F}"/>
              </a:ext>
            </a:extLst>
          </p:cNvPr>
          <p:cNvSpPr>
            <a:spLocks noGrp="1"/>
          </p:cNvSpPr>
          <p:nvPr/>
        </p:nvSpPr>
        <p:spPr>
          <a:xfrm>
            <a:off x="1524000" y="33718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Random splits and plain accuracy can hide leakage and missed fraud.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C61321-F7E2-45F4-ACC3-B9F18D9763C7}"/>
              </a:ext>
            </a:extLst>
          </p:cNvPr>
          <p:cNvSpPr>
            <a:spLocks noGrp="1"/>
          </p:cNvSpPr>
          <p:nvPr/>
        </p:nvSpPr>
        <p:spPr>
          <a:xfrm>
            <a:off x="6286500" y="15811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D8DFF"/>
                </a:solidFill>
              </a:defRPr>
            </a:pPr>
            <a:r>
              <a:rPr sz="3300" b="1" dirty="0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57628C-328A-436C-9FCD-4E78D50CC2C6}"/>
              </a:ext>
            </a:extLst>
          </p:cNvPr>
          <p:cNvSpPr>
            <a:spLocks noGrp="1"/>
          </p:cNvSpPr>
          <p:nvPr/>
        </p:nvSpPr>
        <p:spPr>
          <a:xfrm>
            <a:off x="7200900" y="16192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81A3A"/>
                </a:solidFill>
              </a:defRPr>
            </a:pPr>
            <a:r>
              <a:rPr sz="1875" b="1" dirty="0">
                <a:solidFill>
                  <a:srgbClr val="081A3A"/>
                </a:solidFill>
              </a:rPr>
              <a:t>Real-time decisions must stay fast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A6FDAA-D6BC-411E-AA90-7ECE54816AED}"/>
              </a:ext>
            </a:extLst>
          </p:cNvPr>
          <p:cNvSpPr>
            <a:spLocks noGrp="1"/>
          </p:cNvSpPr>
          <p:nvPr/>
        </p:nvSpPr>
        <p:spPr>
          <a:xfrm>
            <a:off x="7200900" y="2000250"/>
            <a:ext cx="428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 dirty="0">
                <a:solidFill>
                  <a:srgbClr val="5E6F89"/>
                </a:solidFill>
              </a:rPr>
              <a:t>Millions of rows belong in offline training—not inside one transaction request.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0545D-6535-4EAA-BF51-4384D5760353}"/>
              </a:ext>
            </a:extLst>
          </p:cNvPr>
          <p:cNvSpPr>
            <a:spLocks noGrp="1"/>
          </p:cNvSpPr>
          <p:nvPr/>
        </p:nvSpPr>
        <p:spPr>
          <a:xfrm>
            <a:off x="6286500" y="29527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464361-25BF-4B9C-9BAA-47819A45DEAA}"/>
              </a:ext>
            </a:extLst>
          </p:cNvPr>
          <p:cNvSpPr>
            <a:spLocks noGrp="1"/>
          </p:cNvSpPr>
          <p:nvPr/>
        </p:nvSpPr>
        <p:spPr>
          <a:xfrm>
            <a:off x="7200900" y="29908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81A3A"/>
                </a:solidFill>
              </a:defRPr>
            </a:pPr>
            <a:r>
              <a:rPr sz="1875" b="1" dirty="0">
                <a:solidFill>
                  <a:srgbClr val="081A3A"/>
                </a:solidFill>
              </a:rPr>
              <a:t>A score must be explainable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947323-3328-4512-A131-5A315429CB8D}"/>
              </a:ext>
            </a:extLst>
          </p:cNvPr>
          <p:cNvSpPr>
            <a:spLocks noGrp="1"/>
          </p:cNvSpPr>
          <p:nvPr/>
        </p:nvSpPr>
        <p:spPr>
          <a:xfrm>
            <a:off x="7200900" y="33718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AML staff need reasons, policy versions, cases, and auditable outcomes.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DB9DA2-C5FC-46FF-A746-1FDB32D3ECF4}"/>
              </a:ext>
            </a:extLst>
          </p:cNvPr>
          <p:cNvSpPr>
            <a:spLocks noGrp="1"/>
          </p:cNvSpPr>
          <p:nvPr/>
        </p:nvSpPr>
        <p:spPr>
          <a:xfrm>
            <a:off x="609600" y="4762499"/>
            <a:ext cx="10972800" cy="1217809"/>
          </a:xfrm>
          <a:prstGeom prst="rect">
            <a:avLst/>
          </a:prstGeom>
          <a:solidFill>
            <a:srgbClr val="102A63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C37A25-0614-459F-A94D-E6303BEA6E8D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Design question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4D4911-68FC-4703-85F9-7B292BAD94EE}"/>
              </a:ext>
            </a:extLst>
          </p:cNvPr>
          <p:cNvSpPr>
            <a:spLocks noGrp="1"/>
          </p:cNvSpPr>
          <p:nvPr/>
        </p:nvSpPr>
        <p:spPr>
          <a:xfrm>
            <a:off x="838200" y="52578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How can one system learn before labels exist, improve after labels arrive, scale to bank volumes, and still explain every decision?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0EABA7-80FF-42C4-8E3E-3515DE0164F5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111217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4B62D40-5FBC-437C-861C-43DB132B36D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RESEARCH-GUIDED APPROACH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22257-5263-4075-BDA0-D1F79ECECD5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Published methods shaped the design—not the claimed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FC4FF9-23D5-4A4E-8E08-55CB89B9CE54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C6D48-49CB-42AA-96C6-3A730A55F705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584EC-DF2B-4D5E-A58D-523317AD9CD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F8ED89-0A96-4EC9-BB25-C94BA26C3378}"/>
              </a:ext>
            </a:extLst>
          </p:cNvPr>
          <p:cNvSpPr>
            <a:spLocks noGrp="1"/>
          </p:cNvSpPr>
          <p:nvPr/>
        </p:nvSpPr>
        <p:spPr>
          <a:xfrm>
            <a:off x="1257300" y="15811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A3A"/>
                </a:solidFill>
              </a:defRPr>
            </a:pPr>
            <a:r>
              <a:rPr sz="1650" b="1" dirty="0">
                <a:solidFill>
                  <a:srgbClr val="081A3A"/>
                </a:solidFill>
              </a:rPr>
              <a:t>Fraud Detection Handbook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76523A-5323-4719-91D1-FC1B31CDF3C1}"/>
              </a:ext>
            </a:extLst>
          </p:cNvPr>
          <p:cNvSpPr>
            <a:spLocks noGrp="1"/>
          </p:cNvSpPr>
          <p:nvPr/>
        </p:nvSpPr>
        <p:spPr>
          <a:xfrm>
            <a:off x="4762500" y="1581150"/>
            <a:ext cx="638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Chronological evaluation, rare-event metrics, reproducible simulator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E4152C-1793-4DCA-B46A-CBC7F35074C2}"/>
              </a:ext>
            </a:extLst>
          </p:cNvPr>
          <p:cNvSpPr>
            <a:spLocks noGrp="1"/>
          </p:cNvSpPr>
          <p:nvPr/>
        </p:nvSpPr>
        <p:spPr>
          <a:xfrm>
            <a:off x="1257300" y="2209800"/>
            <a:ext cx="988695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9AC7C-9A84-4EA4-B578-23B55B5E33B8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D69CF1-88E6-4805-97B3-F686958FF43F}"/>
              </a:ext>
            </a:extLst>
          </p:cNvPr>
          <p:cNvSpPr>
            <a:spLocks noGrp="1"/>
          </p:cNvSpPr>
          <p:nvPr/>
        </p:nvSpPr>
        <p:spPr>
          <a:xfrm>
            <a:off x="1257300" y="24193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A3A"/>
                </a:solidFill>
              </a:defRPr>
            </a:pPr>
            <a:r>
              <a:rPr sz="1650" b="1" dirty="0">
                <a:solidFill>
                  <a:srgbClr val="081A3A"/>
                </a:solidFill>
              </a:rPr>
              <a:t>Isolation Forest + autoencoder literature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554409-A19E-46FA-96F1-D698B7254B9C}"/>
              </a:ext>
            </a:extLst>
          </p:cNvPr>
          <p:cNvSpPr>
            <a:spLocks noGrp="1"/>
          </p:cNvSpPr>
          <p:nvPr/>
        </p:nvSpPr>
        <p:spPr>
          <a:xfrm>
            <a:off x="4762500" y="2419350"/>
            <a:ext cx="638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Complementary unsupervised anomaly views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D6E258-58BA-4966-BCD3-BDF9E132B84C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988695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0751ED-D993-4993-A5EC-59F575BEC97A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58DA93-2955-4815-AD43-8A17AC3C093A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A3A"/>
                </a:solidFill>
              </a:defRPr>
            </a:pPr>
            <a:r>
              <a:rPr sz="1650" b="1" dirty="0">
                <a:solidFill>
                  <a:srgbClr val="081A3A"/>
                </a:solidFill>
              </a:rPr>
              <a:t>Random Forest, Extra Trees, </a:t>
            </a:r>
            <a:r>
              <a:rPr sz="1650" b="1" dirty="0" err="1">
                <a:solidFill>
                  <a:srgbClr val="081A3A"/>
                </a:solidFill>
              </a:rPr>
              <a:t>XGBoost</a:t>
            </a:r>
            <a:endParaRPr sz="1650" b="1" dirty="0">
              <a:solidFill>
                <a:srgbClr val="081A3A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0B0B66-536F-4358-B25E-09C7AA1F8FAF}"/>
              </a:ext>
            </a:extLst>
          </p:cNvPr>
          <p:cNvSpPr>
            <a:spLocks noGrp="1"/>
          </p:cNvSpPr>
          <p:nvPr/>
        </p:nvSpPr>
        <p:spPr>
          <a:xfrm>
            <a:off x="4762500" y="3257550"/>
            <a:ext cx="638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Robust nonlinear supervised baselines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0C7D44-FA5B-426D-B7A4-CB28B6C7A925}"/>
              </a:ext>
            </a:extLst>
          </p:cNvPr>
          <p:cNvSpPr>
            <a:spLocks noGrp="1"/>
          </p:cNvSpPr>
          <p:nvPr/>
        </p:nvSpPr>
        <p:spPr>
          <a:xfrm>
            <a:off x="1257300" y="3886200"/>
            <a:ext cx="988695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10893D-19F4-4E18-B662-F7534C7E8FD9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B6B7E3-B947-434C-A0D7-92904D575A7C}"/>
              </a:ext>
            </a:extLst>
          </p:cNvPr>
          <p:cNvSpPr>
            <a:spLocks noGrp="1"/>
          </p:cNvSpPr>
          <p:nvPr/>
        </p:nvSpPr>
        <p:spPr>
          <a:xfrm>
            <a:off x="1257300" y="40957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A3A"/>
                </a:solidFill>
              </a:defRPr>
            </a:pPr>
            <a:r>
              <a:rPr sz="1650" b="1">
                <a:solidFill>
                  <a:srgbClr val="081A3A"/>
                </a:solidFill>
              </a:rPr>
              <a:t>Excess-Mass and anomaly-evaluation research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FCD237-81B1-4E66-86D3-45CAFB00F645}"/>
              </a:ext>
            </a:extLst>
          </p:cNvPr>
          <p:cNvSpPr>
            <a:spLocks noGrp="1"/>
          </p:cNvSpPr>
          <p:nvPr/>
        </p:nvSpPr>
        <p:spPr>
          <a:xfrm>
            <a:off x="4762500" y="4095750"/>
            <a:ext cx="638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Label-free comparison without calling it fraud accuracy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F87602-BA60-449B-8669-E9D511AD29D8}"/>
              </a:ext>
            </a:extLst>
          </p:cNvPr>
          <p:cNvSpPr>
            <a:spLocks noGrp="1"/>
          </p:cNvSpPr>
          <p:nvPr/>
        </p:nvSpPr>
        <p:spPr>
          <a:xfrm>
            <a:off x="1257300" y="4724400"/>
            <a:ext cx="988695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1244CF-0206-4127-90EB-7AEA3B034E26}"/>
              </a:ext>
            </a:extLst>
          </p:cNvPr>
          <p:cNvSpPr>
            <a:spLocks noGrp="1"/>
          </p:cNvSpPr>
          <p:nvPr/>
        </p:nvSpPr>
        <p:spPr>
          <a:xfrm>
            <a:off x="1257300" y="59626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 dirty="0">
                <a:solidFill>
                  <a:srgbClr val="3D8DFF"/>
                </a:solidFill>
              </a:rPr>
              <a:t>Research determines the protocol. Project measurements determine the conclusion.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B07B07-5580-4DC2-8A74-7C9913C27065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1869883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874F0D8-3C68-41EC-8D4B-C6D02B8764B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DATASET PROVENANCE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FA3D6A-EA86-4E4D-8C09-7DD9EA94FA8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The main supervised benchmark preserves chronology and rarity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319CCB-AC77-451E-8B9A-F263D044422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88EB6E-8C6C-4E9C-93CC-483DDF75730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42501-863C-4F4D-A441-2E63C5A8F09F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2381250" cy="4762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5951F-B2D2-4C2E-88B2-4C9B97A25AD3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TRANSACTIONS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0CB0AC-D892-4C22-AE84-F20EB70488FF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264,500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25DC14-F9DB-4C18-AB57-7D589FE7F118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Adapted simulator rows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3CD6B9-ADC5-4D5B-943E-54BB051CD010}"/>
              </a:ext>
            </a:extLst>
          </p:cNvPr>
          <p:cNvSpPr>
            <a:spLocks noGrp="1"/>
          </p:cNvSpPr>
          <p:nvPr/>
        </p:nvSpPr>
        <p:spPr>
          <a:xfrm>
            <a:off x="3333750" y="1562100"/>
            <a:ext cx="2381250" cy="47625"/>
          </a:xfrm>
          <a:prstGeom prst="rect">
            <a:avLst/>
          </a:prstGeom>
          <a:solidFill>
            <a:srgbClr val="D92D20"/>
          </a:solidFill>
          <a:ln w="0">
            <a:solidFill>
              <a:srgbClr val="D92D2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97CB0B-34AA-4A4A-8344-2BC2EED37975}"/>
              </a:ext>
            </a:extLst>
          </p:cNvPr>
          <p:cNvSpPr>
            <a:spLocks noGrp="1"/>
          </p:cNvSpPr>
          <p:nvPr/>
        </p:nvSpPr>
        <p:spPr>
          <a:xfrm>
            <a:off x="3333750" y="1714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FRAUD ROWS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EEE673-55E2-4488-AB7B-D4475DC22532}"/>
              </a:ext>
            </a:extLst>
          </p:cNvPr>
          <p:cNvSpPr>
            <a:spLocks noGrp="1"/>
          </p:cNvSpPr>
          <p:nvPr/>
        </p:nvSpPr>
        <p:spPr>
          <a:xfrm>
            <a:off x="3333750" y="1971675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2,340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0FDA2B-5B53-493A-9320-737AF736EE11}"/>
              </a:ext>
            </a:extLst>
          </p:cNvPr>
          <p:cNvSpPr>
            <a:spLocks noGrp="1"/>
          </p:cNvSpPr>
          <p:nvPr/>
        </p:nvSpPr>
        <p:spPr>
          <a:xfrm>
            <a:off x="3333750" y="25146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0.8847% prevalence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357ED6-8E8C-4AE8-A3EB-BA13806E5E4B}"/>
              </a:ext>
            </a:extLst>
          </p:cNvPr>
          <p:cNvSpPr>
            <a:spLocks noGrp="1"/>
          </p:cNvSpPr>
          <p:nvPr/>
        </p:nvSpPr>
        <p:spPr>
          <a:xfrm>
            <a:off x="6057900" y="1562100"/>
            <a:ext cx="2381250" cy="47625"/>
          </a:xfrm>
          <a:prstGeom prst="rect">
            <a:avLst/>
          </a:prstGeom>
          <a:solidFill>
            <a:srgbClr val="16A36A"/>
          </a:solidFill>
          <a:ln w="0">
            <a:solidFill>
              <a:srgbClr val="16A36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AE6F27-972E-4B1B-A537-6AE9BC2AD7CF}"/>
              </a:ext>
            </a:extLst>
          </p:cNvPr>
          <p:cNvSpPr>
            <a:spLocks noGrp="1"/>
          </p:cNvSpPr>
          <p:nvPr/>
        </p:nvSpPr>
        <p:spPr>
          <a:xfrm>
            <a:off x="6057900" y="1714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CUSTOMERS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AF9825-1344-4BF0-843A-12A6448F69E2}"/>
              </a:ext>
            </a:extLst>
          </p:cNvPr>
          <p:cNvSpPr>
            <a:spLocks noGrp="1"/>
          </p:cNvSpPr>
          <p:nvPr/>
        </p:nvSpPr>
        <p:spPr>
          <a:xfrm>
            <a:off x="6057900" y="1971675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749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FCEE47-E823-4A77-AB22-E59AE9E39AE6}"/>
              </a:ext>
            </a:extLst>
          </p:cNvPr>
          <p:cNvSpPr>
            <a:spLocks noGrp="1"/>
          </p:cNvSpPr>
          <p:nvPr/>
        </p:nvSpPr>
        <p:spPr>
          <a:xfrm>
            <a:off x="6057900" y="25146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Complete histories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2F0F5B-0D17-4FC3-98D7-2442F469C531}"/>
              </a:ext>
            </a:extLst>
          </p:cNvPr>
          <p:cNvSpPr>
            <a:spLocks noGrp="1"/>
          </p:cNvSpPr>
          <p:nvPr/>
        </p:nvSpPr>
        <p:spPr>
          <a:xfrm>
            <a:off x="8782050" y="1562100"/>
            <a:ext cx="238125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FCD14-DEB9-48C1-BAE1-357B087930C6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CALENDAR SPAN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A83F47-FD29-4AFA-865A-FA5B88FDE925}"/>
              </a:ext>
            </a:extLst>
          </p:cNvPr>
          <p:cNvSpPr>
            <a:spLocks noGrp="1"/>
          </p:cNvSpPr>
          <p:nvPr/>
        </p:nvSpPr>
        <p:spPr>
          <a:xfrm>
            <a:off x="8782050" y="1971675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183 days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0197E0-F02B-459B-9659-EDAB8BD4B030}"/>
              </a:ext>
            </a:extLst>
          </p:cNvPr>
          <p:cNvSpPr>
            <a:spLocks noGrp="1"/>
          </p:cNvSpPr>
          <p:nvPr/>
        </p:nvSpPr>
        <p:spPr>
          <a:xfrm>
            <a:off x="8782050" y="25146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Apr–Sep 2018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EB1BD1-B2AE-4B73-80D3-EFEDE6F89B74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5143500" cy="20955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2FBAA4-F939-474D-BAF4-23D64536CC2F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Source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3B339F-227E-490C-9E2D-56913526FE00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4286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81A3A"/>
                </a:solidFill>
              </a:defRPr>
            </a:pPr>
            <a:r>
              <a:rPr sz="2025" b="1">
                <a:solidFill>
                  <a:srgbClr val="081A3A"/>
                </a:solidFill>
              </a:rPr>
              <a:t>Fraud Detection Handbook</a:t>
            </a:r>
          </a:p>
          <a:p>
            <a:pPr algn="l">
              <a:defRPr sz="2025" b="1">
                <a:solidFill>
                  <a:srgbClr val="081A3A"/>
                </a:solidFill>
              </a:defRPr>
            </a:pPr>
            <a:r>
              <a:rPr sz="2025" b="1">
                <a:solidFill>
                  <a:srgbClr val="081A3A"/>
                </a:solidFill>
              </a:rPr>
              <a:t>simulated-data-transformed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58288F-DB17-4CDF-8C23-7CB113437F74}"/>
              </a:ext>
            </a:extLst>
          </p:cNvPr>
          <p:cNvSpPr>
            <a:spLocks noGrp="1"/>
          </p:cNvSpPr>
          <p:nvPr/>
        </p:nvSpPr>
        <p:spPr>
          <a:xfrm>
            <a:off x="838200" y="4667250"/>
            <a:ext cx="4333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Terminal identity is mapped to Location. Fraud labels and scenario identifiers are never model inputs.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EEE836-DAB2-4D3A-AA70-703D22369500}"/>
              </a:ext>
            </a:extLst>
          </p:cNvPr>
          <p:cNvSpPr>
            <a:spLocks noGrp="1"/>
          </p:cNvSpPr>
          <p:nvPr/>
        </p:nvSpPr>
        <p:spPr>
          <a:xfrm>
            <a:off x="6057900" y="3238500"/>
            <a:ext cx="5105400" cy="2095500"/>
          </a:xfrm>
          <a:prstGeom prst="rect">
            <a:avLst/>
          </a:prstGeom>
          <a:solidFill>
            <a:srgbClr val="EDF1F6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1D9C91-0C83-4433-87AD-E92D3FA57E02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Leakage-safe split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95D4DC-A5E6-4950-BF2D-993F125AAA1B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1A3A"/>
                </a:solidFill>
              </a:defRPr>
            </a:pPr>
            <a:r>
              <a:rPr sz="1800" b="1">
                <a:solidFill>
                  <a:srgbClr val="081A3A"/>
                </a:solidFill>
              </a:rPr>
              <a:t>70% train  →  10% calibrate  →  20% untouched test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E1E11D-8C7A-4035-81E1-C2048AC94632}"/>
              </a:ext>
            </a:extLst>
          </p:cNvPr>
          <p:cNvSpPr>
            <a:spLocks noGrp="1"/>
          </p:cNvSpPr>
          <p:nvPr/>
        </p:nvSpPr>
        <p:spPr>
          <a:xfrm>
            <a:off x="6286500" y="47053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Thresholds are chosen on calibration only; the newest period reports final performance.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AAFF0F-9918-4771-9673-5D99E09829B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2D20"/>
                </a:solidFill>
              </a:defRPr>
            </a:pPr>
            <a:endParaRPr sz="1500" b="1" dirty="0">
              <a:solidFill>
                <a:srgbClr val="D92D2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7CA3B9-2038-4511-8550-6844E3265A07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126528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E4218F8E-0C91-45D3-A699-37DA3965A57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DUAL-MODE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A2666-0281-4CD3-A7EB-45FC3B20F27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One setting changes the learning path; the operational workflow remains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646475-C7BD-42EE-BEF4-215541056CB4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5090C0-ADA1-434B-B678-1B68BF413ECF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0C13D6-D2DA-478F-8549-D3A614F73C2F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2952750" cy="40005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8AA22-40B9-4ADD-8A02-B601CE1C321C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UNSUPERVISED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E8BBE-F2AC-4CDD-8A63-1FE711234B2F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81A3A"/>
                </a:solidFill>
              </a:defRPr>
            </a:pPr>
            <a:r>
              <a:rPr sz="2025" b="1">
                <a:solidFill>
                  <a:srgbClr val="081A3A"/>
                </a:solidFill>
              </a:rPr>
              <a:t>When labels are absent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643583-3A38-4254-BDD2-3C996D9B4B22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1AF867-90E4-4540-930F-F4E345BA2BFA}"/>
              </a:ext>
            </a:extLst>
          </p:cNvPr>
          <p:cNvSpPr>
            <a:spLocks noGrp="1"/>
          </p:cNvSpPr>
          <p:nvPr/>
        </p:nvSpPr>
        <p:spPr>
          <a:xfrm>
            <a:off x="1085850" y="2857500"/>
            <a:ext cx="2152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Isolation Forest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739CA8-4211-4916-A174-2A4877B70B43}"/>
              </a:ext>
            </a:extLst>
          </p:cNvPr>
          <p:cNvSpPr>
            <a:spLocks noGrp="1"/>
          </p:cNvSpPr>
          <p:nvPr/>
        </p:nvSpPr>
        <p:spPr>
          <a:xfrm>
            <a:off x="857250" y="3457575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9B054B-D1E1-4910-A941-F0CD3CFE5574}"/>
              </a:ext>
            </a:extLst>
          </p:cNvPr>
          <p:cNvSpPr>
            <a:spLocks noGrp="1"/>
          </p:cNvSpPr>
          <p:nvPr/>
        </p:nvSpPr>
        <p:spPr>
          <a:xfrm>
            <a:off x="1085850" y="3381375"/>
            <a:ext cx="2152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Autoencoder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034BF6-0DD2-40D4-A367-071543929E96}"/>
              </a:ext>
            </a:extLst>
          </p:cNvPr>
          <p:cNvSpPr>
            <a:spLocks noGrp="1"/>
          </p:cNvSpPr>
          <p:nvPr/>
        </p:nvSpPr>
        <p:spPr>
          <a:xfrm>
            <a:off x="857250" y="39814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10BF62-2256-4A70-BAF0-3AD9BB4F7511}"/>
              </a:ext>
            </a:extLst>
          </p:cNvPr>
          <p:cNvSpPr>
            <a:spLocks noGrp="1"/>
          </p:cNvSpPr>
          <p:nvPr/>
        </p:nvSpPr>
        <p:spPr>
          <a:xfrm>
            <a:off x="1085850" y="3905250"/>
            <a:ext cx="2152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Behavioral Cluster Outlier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5DE66F-0EE2-4707-BE51-1B946740C7AA}"/>
              </a:ext>
            </a:extLst>
          </p:cNvPr>
          <p:cNvSpPr>
            <a:spLocks noGrp="1"/>
          </p:cNvSpPr>
          <p:nvPr/>
        </p:nvSpPr>
        <p:spPr>
          <a:xfrm>
            <a:off x="857250" y="4505325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531EF8-5455-4BF5-89EE-6646A4DB9FA0}"/>
              </a:ext>
            </a:extLst>
          </p:cNvPr>
          <p:cNvSpPr>
            <a:spLocks noGrp="1"/>
          </p:cNvSpPr>
          <p:nvPr/>
        </p:nvSpPr>
        <p:spPr>
          <a:xfrm>
            <a:off x="1085850" y="4429125"/>
            <a:ext cx="2152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EM-AUC, score shape, stability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D6F140-3919-492B-8380-73D52405629E}"/>
              </a:ext>
            </a:extLst>
          </p:cNvPr>
          <p:cNvSpPr>
            <a:spLocks noGrp="1"/>
          </p:cNvSpPr>
          <p:nvPr/>
        </p:nvSpPr>
        <p:spPr>
          <a:xfrm>
            <a:off x="4324350" y="1543050"/>
            <a:ext cx="2952750" cy="4000500"/>
          </a:xfrm>
          <a:prstGeom prst="rect">
            <a:avLst/>
          </a:prstGeom>
          <a:solidFill>
            <a:srgbClr val="E8F8F1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A942DD-2AFD-47CA-9986-2FA8C9718DED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A36A"/>
                </a:solidFill>
              </a:defRPr>
            </a:pPr>
            <a:r>
              <a:rPr sz="1350" b="1">
                <a:solidFill>
                  <a:srgbClr val="16A36A"/>
                </a:solidFill>
              </a:rPr>
              <a:t>SUPERVISED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FC629F-A354-414D-8B7E-A89A52677275}"/>
              </a:ext>
            </a:extLst>
          </p:cNvPr>
          <p:cNvSpPr>
            <a:spLocks noGrp="1"/>
          </p:cNvSpPr>
          <p:nvPr/>
        </p:nvSpPr>
        <p:spPr>
          <a:xfrm>
            <a:off x="4572000" y="22098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81A3A"/>
                </a:solidFill>
              </a:defRPr>
            </a:pPr>
            <a:r>
              <a:rPr sz="2025" b="1">
                <a:solidFill>
                  <a:srgbClr val="081A3A"/>
                </a:solidFill>
              </a:rPr>
              <a:t>When reviewed labels exist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EFAF9B-CCF1-40D4-AB07-A744114CB146}"/>
              </a:ext>
            </a:extLst>
          </p:cNvPr>
          <p:cNvSpPr>
            <a:spLocks noGrp="1"/>
          </p:cNvSpPr>
          <p:nvPr/>
        </p:nvSpPr>
        <p:spPr>
          <a:xfrm>
            <a:off x="4572000" y="30480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0C3996-C7B3-4CB3-B719-E246F24FC973}"/>
              </a:ext>
            </a:extLst>
          </p:cNvPr>
          <p:cNvSpPr>
            <a:spLocks noGrp="1"/>
          </p:cNvSpPr>
          <p:nvPr/>
        </p:nvSpPr>
        <p:spPr>
          <a:xfrm>
            <a:off x="4800600" y="2971800"/>
            <a:ext cx="2152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XGBoost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CEE0A-6B35-4209-A431-7FD68E55AC8F}"/>
              </a:ext>
            </a:extLst>
          </p:cNvPr>
          <p:cNvSpPr>
            <a:spLocks noGrp="1"/>
          </p:cNvSpPr>
          <p:nvPr/>
        </p:nvSpPr>
        <p:spPr>
          <a:xfrm>
            <a:off x="4572000" y="3571875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5F9A67-1D37-403E-8F6E-AD3938AAB3C6}"/>
              </a:ext>
            </a:extLst>
          </p:cNvPr>
          <p:cNvSpPr>
            <a:spLocks noGrp="1"/>
          </p:cNvSpPr>
          <p:nvPr/>
        </p:nvSpPr>
        <p:spPr>
          <a:xfrm>
            <a:off x="4800600" y="3495675"/>
            <a:ext cx="2152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Class-Balanced Random Forest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7C4C47-B5B1-47E3-A562-4B9C8549D385}"/>
              </a:ext>
            </a:extLst>
          </p:cNvPr>
          <p:cNvSpPr>
            <a:spLocks noGrp="1"/>
          </p:cNvSpPr>
          <p:nvPr/>
        </p:nvSpPr>
        <p:spPr>
          <a:xfrm>
            <a:off x="4572000" y="40957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E65ED-3EA2-48E5-AFCF-7B02386C4353}"/>
              </a:ext>
            </a:extLst>
          </p:cNvPr>
          <p:cNvSpPr>
            <a:spLocks noGrp="1"/>
          </p:cNvSpPr>
          <p:nvPr/>
        </p:nvSpPr>
        <p:spPr>
          <a:xfrm>
            <a:off x="4800600" y="4019550"/>
            <a:ext cx="2152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Extra Trees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C9E553-E7C5-4AE9-B3E6-7B8B522296EE}"/>
              </a:ext>
            </a:extLst>
          </p:cNvPr>
          <p:cNvSpPr>
            <a:spLocks noGrp="1"/>
          </p:cNvSpPr>
          <p:nvPr/>
        </p:nvSpPr>
        <p:spPr>
          <a:xfrm>
            <a:off x="4572000" y="4619625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033603-46EC-447F-86C2-FD3FB65F9FBD}"/>
              </a:ext>
            </a:extLst>
          </p:cNvPr>
          <p:cNvSpPr>
            <a:spLocks noGrp="1"/>
          </p:cNvSpPr>
          <p:nvPr/>
        </p:nvSpPr>
        <p:spPr>
          <a:xfrm>
            <a:off x="4800600" y="4543425"/>
            <a:ext cx="2152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PR-AUC, precision, recall, F1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E5066F-0DD4-4F64-98D4-B30ED988E209}"/>
              </a:ext>
            </a:extLst>
          </p:cNvPr>
          <p:cNvSpPr>
            <a:spLocks noGrp="1"/>
          </p:cNvSpPr>
          <p:nvPr/>
        </p:nvSpPr>
        <p:spPr>
          <a:xfrm>
            <a:off x="8039100" y="1543050"/>
            <a:ext cx="3543300" cy="4000500"/>
          </a:xfrm>
          <a:prstGeom prst="rect">
            <a:avLst/>
          </a:prstGeom>
          <a:solidFill>
            <a:srgbClr val="EDF1F6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6E4E0D-FFC6-4C37-886D-56E38B8CAFD7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6F89"/>
                </a:solidFill>
              </a:defRPr>
            </a:pPr>
            <a:r>
              <a:rPr sz="1350" b="1">
                <a:solidFill>
                  <a:srgbClr val="5E6F89"/>
                </a:solidFill>
              </a:rPr>
              <a:t>SHARED OPERATIONS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1347BA-2059-436A-985F-8E49C95F601C}"/>
              </a:ext>
            </a:extLst>
          </p:cNvPr>
          <p:cNvSpPr>
            <a:spLocks noGrp="1"/>
          </p:cNvSpPr>
          <p:nvPr/>
        </p:nvSpPr>
        <p:spPr>
          <a:xfrm>
            <a:off x="8286750" y="22098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81A3A"/>
                </a:solidFill>
              </a:defRPr>
            </a:pPr>
            <a:r>
              <a:rPr sz="2025" b="1">
                <a:solidFill>
                  <a:srgbClr val="081A3A"/>
                </a:solidFill>
              </a:rPr>
              <a:t>The rest of the system does not reset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76569E-F79E-40DC-A160-B560AF33EB58}"/>
              </a:ext>
            </a:extLst>
          </p:cNvPr>
          <p:cNvSpPr>
            <a:spLocks noGrp="1"/>
          </p:cNvSpPr>
          <p:nvPr/>
        </p:nvSpPr>
        <p:spPr>
          <a:xfrm>
            <a:off x="8286750" y="30480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469ECA-6CB3-4CE2-B4C8-C9E89BCC4A4A}"/>
              </a:ext>
            </a:extLst>
          </p:cNvPr>
          <p:cNvSpPr>
            <a:spLocks noGrp="1"/>
          </p:cNvSpPr>
          <p:nvPr/>
        </p:nvSpPr>
        <p:spPr>
          <a:xfrm>
            <a:off x="8515350" y="29718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Customer behaviour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F111C8-44F4-455A-A6B5-7319D50B0A1B}"/>
              </a:ext>
            </a:extLst>
          </p:cNvPr>
          <p:cNvSpPr>
            <a:spLocks noGrp="1"/>
          </p:cNvSpPr>
          <p:nvPr/>
        </p:nvSpPr>
        <p:spPr>
          <a:xfrm>
            <a:off x="8286750" y="35052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0D5C5D-3E6C-46F5-9AA6-57C61F2FE3D0}"/>
              </a:ext>
            </a:extLst>
          </p:cNvPr>
          <p:cNvSpPr>
            <a:spLocks noGrp="1"/>
          </p:cNvSpPr>
          <p:nvPr/>
        </p:nvSpPr>
        <p:spPr>
          <a:xfrm>
            <a:off x="8515350" y="34290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Peer behaviour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F83EA6-86A5-4DC1-9848-43D5D4CF2EFA}"/>
              </a:ext>
            </a:extLst>
          </p:cNvPr>
          <p:cNvSpPr>
            <a:spLocks noGrp="1"/>
          </p:cNvSpPr>
          <p:nvPr/>
        </p:nvSpPr>
        <p:spPr>
          <a:xfrm>
            <a:off x="8286750" y="39624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DDC998-5CA6-4030-A7C5-863B3EA395DA}"/>
              </a:ext>
            </a:extLst>
          </p:cNvPr>
          <p:cNvSpPr>
            <a:spLocks noGrp="1"/>
          </p:cNvSpPr>
          <p:nvPr/>
        </p:nvSpPr>
        <p:spPr>
          <a:xfrm>
            <a:off x="8515350" y="38862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AML rules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809321-BCB1-4378-A5A4-47095BD36C1C}"/>
              </a:ext>
            </a:extLst>
          </p:cNvPr>
          <p:cNvSpPr>
            <a:spLocks noGrp="1"/>
          </p:cNvSpPr>
          <p:nvPr/>
        </p:nvSpPr>
        <p:spPr>
          <a:xfrm>
            <a:off x="8286750" y="44196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385405-C188-42D5-A55C-7255D5FF9A89}"/>
              </a:ext>
            </a:extLst>
          </p:cNvPr>
          <p:cNvSpPr>
            <a:spLocks noGrp="1"/>
          </p:cNvSpPr>
          <p:nvPr/>
        </p:nvSpPr>
        <p:spPr>
          <a:xfrm>
            <a:off x="8515350" y="43434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Risk policy and cases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E31369-2DB9-43D7-AB5A-227E8B7ECABC}"/>
              </a:ext>
            </a:extLst>
          </p:cNvPr>
          <p:cNvSpPr>
            <a:spLocks noGrp="1"/>
          </p:cNvSpPr>
          <p:nvPr/>
        </p:nvSpPr>
        <p:spPr>
          <a:xfrm>
            <a:off x="8286750" y="48768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524424A-EF32-48E9-A2CF-7114271AB024}"/>
              </a:ext>
            </a:extLst>
          </p:cNvPr>
          <p:cNvSpPr>
            <a:spLocks noGrp="1"/>
          </p:cNvSpPr>
          <p:nvPr/>
        </p:nvSpPr>
        <p:spPr>
          <a:xfrm>
            <a:off x="8515350" y="48006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STR workflow and audit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7DFC1B-49F0-4A57-B7E3-86B092FC6E33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This avoids forcing a client without labels to pretend supervised accuracy exists.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A291B6-5852-404D-986B-80F96AA9866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159843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FA039EE-6393-440B-8868-435CD3E5AD1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LAYERED RISK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668FD-76F2-44E0-B4A8-553A86820C06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The final 0–100 score combines four independently explainable layers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7720E3-BC82-4B72-A5C9-4C06AEECCED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68DAB-C7BA-4404-B66A-B3715162636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E2001-046A-4CAD-8C9B-0E84DBFC4F2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23431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C58884-1D57-4B9F-9DBF-480F2A3E8802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Customer behaviour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B19646-FECC-4ECA-8AF0-A10278F121B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2343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Personal amount, velocity, novelty, confidence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197C8-852A-418B-8639-DE5C08D9614F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 dirty="0">
                <a:solidFill>
                  <a:srgbClr val="3D8DFF"/>
                </a:solidFill>
              </a:rPr>
              <a:t>0–1 normalized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C030F4-BA49-4838-92B6-6F354DD57CB2}"/>
              </a:ext>
            </a:extLst>
          </p:cNvPr>
          <p:cNvSpPr>
            <a:spLocks noGrp="1"/>
          </p:cNvSpPr>
          <p:nvPr/>
        </p:nvSpPr>
        <p:spPr>
          <a:xfrm>
            <a:off x="3352800" y="1657350"/>
            <a:ext cx="2343150" cy="57150"/>
          </a:xfrm>
          <a:prstGeom prst="rect">
            <a:avLst/>
          </a:prstGeom>
          <a:solidFill>
            <a:srgbClr val="16A36A"/>
          </a:solidFill>
          <a:ln w="0">
            <a:solidFill>
              <a:srgbClr val="16A36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16A9D4-231E-4554-BED3-33D25BF64D39}"/>
              </a:ext>
            </a:extLst>
          </p:cNvPr>
          <p:cNvSpPr>
            <a:spLocks noGrp="1"/>
          </p:cNvSpPr>
          <p:nvPr/>
        </p:nvSpPr>
        <p:spPr>
          <a:xfrm>
            <a:off x="3352800" y="192405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Peer behaviour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B97C21-4C74-4601-8FA8-B6A46450E04E}"/>
              </a:ext>
            </a:extLst>
          </p:cNvPr>
          <p:cNvSpPr>
            <a:spLocks noGrp="1"/>
          </p:cNvSpPr>
          <p:nvPr/>
        </p:nvSpPr>
        <p:spPr>
          <a:xfrm>
            <a:off x="3352800" y="2400300"/>
            <a:ext cx="2343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Occupation-age peers with fallback hierarchy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A07E00-068B-4A46-9964-B89A39EA0A40}"/>
              </a:ext>
            </a:extLst>
          </p:cNvPr>
          <p:cNvSpPr>
            <a:spLocks noGrp="1"/>
          </p:cNvSpPr>
          <p:nvPr/>
        </p:nvSpPr>
        <p:spPr>
          <a:xfrm>
            <a:off x="3352800" y="34671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6A36A"/>
                </a:solidFill>
              </a:defRPr>
            </a:pPr>
            <a:r>
              <a:rPr sz="1125" b="1">
                <a:solidFill>
                  <a:srgbClr val="16A36A"/>
                </a:solidFill>
              </a:rPr>
              <a:t>0–1 normalized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BAF84B-5A91-49B5-BA53-FEF836D54AFD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2343150" cy="57150"/>
          </a:xfrm>
          <a:prstGeom prst="rect">
            <a:avLst/>
          </a:prstGeom>
          <a:solidFill>
            <a:srgbClr val="102A63"/>
          </a:solidFill>
          <a:ln w="0">
            <a:solidFill>
              <a:srgbClr val="102A63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9F365-0F84-4B49-9C80-9C39490351E9}"/>
              </a:ext>
            </a:extLst>
          </p:cNvPr>
          <p:cNvSpPr>
            <a:spLocks noGrp="1"/>
          </p:cNvSpPr>
          <p:nvPr/>
        </p:nvSpPr>
        <p:spPr>
          <a:xfrm>
            <a:off x="6096000" y="192405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ML ensemble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66DEAF-D96D-4D6D-9671-64058EFFF482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2343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Selected supervised or unsupervised detectors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14AC3F-29FE-4CD0-9F21-D7C1CE168035}"/>
              </a:ext>
            </a:extLst>
          </p:cNvPr>
          <p:cNvSpPr>
            <a:spLocks noGrp="1"/>
          </p:cNvSpPr>
          <p:nvPr/>
        </p:nvSpPr>
        <p:spPr>
          <a:xfrm>
            <a:off x="6096000" y="34671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2A63"/>
                </a:solidFill>
              </a:defRPr>
            </a:pPr>
            <a:r>
              <a:rPr sz="1125" b="1">
                <a:solidFill>
                  <a:srgbClr val="102A63"/>
                </a:solidFill>
              </a:rPr>
              <a:t>0–1 normalized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93E22C-D0A9-422E-9A3A-1A4B2C4744C5}"/>
              </a:ext>
            </a:extLst>
          </p:cNvPr>
          <p:cNvSpPr>
            <a:spLocks noGrp="1"/>
          </p:cNvSpPr>
          <p:nvPr/>
        </p:nvSpPr>
        <p:spPr>
          <a:xfrm>
            <a:off x="8839200" y="1657350"/>
            <a:ext cx="2343150" cy="571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9CEA25-9789-486A-9A44-B430CBB2A7DB}"/>
              </a:ext>
            </a:extLst>
          </p:cNvPr>
          <p:cNvSpPr>
            <a:spLocks noGrp="1"/>
          </p:cNvSpPr>
          <p:nvPr/>
        </p:nvSpPr>
        <p:spPr>
          <a:xfrm>
            <a:off x="8839200" y="192405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AML rules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3E0568-F185-40C9-982C-D45EC26F9476}"/>
              </a:ext>
            </a:extLst>
          </p:cNvPr>
          <p:cNvSpPr>
            <a:spLocks noGrp="1"/>
          </p:cNvSpPr>
          <p:nvPr/>
        </p:nvSpPr>
        <p:spPr>
          <a:xfrm>
            <a:off x="8839200" y="2400300"/>
            <a:ext cx="2343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Deterministic structuring, velocity, sanctions, turnover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05B96-8048-41E4-B899-FABB64609672}"/>
              </a:ext>
            </a:extLst>
          </p:cNvPr>
          <p:cNvSpPr>
            <a:spLocks noGrp="1"/>
          </p:cNvSpPr>
          <p:nvPr/>
        </p:nvSpPr>
        <p:spPr>
          <a:xfrm>
            <a:off x="8839200" y="34671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0–1 normalized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098A67-6DB2-4E20-8FBD-672F24874A6B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72800" cy="19050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39C4FF-F09F-4BAE-96DD-687BA72666C7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E6F89"/>
                </a:solidFill>
              </a:defRPr>
            </a:pPr>
            <a:r>
              <a:rPr sz="1500" b="1">
                <a:solidFill>
                  <a:srgbClr val="5E6F89"/>
                </a:solidFill>
              </a:rPr>
              <a:t>Final score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A95567-26E8-454F-8A62-3C0B467FEB10}"/>
              </a:ext>
            </a:extLst>
          </p:cNvPr>
          <p:cNvSpPr>
            <a:spLocks noGrp="1"/>
          </p:cNvSpPr>
          <p:nvPr/>
        </p:nvSpPr>
        <p:spPr>
          <a:xfrm>
            <a:off x="2724150" y="428625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81A3A"/>
                </a:solidFill>
              </a:defRPr>
            </a:pPr>
            <a:r>
              <a:rPr sz="2325" b="1">
                <a:solidFill>
                  <a:srgbClr val="081A3A"/>
                </a:solidFill>
              </a:rPr>
              <a:t>Σ (component score × configured weight) × 100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7D24D7-52D1-4323-8B3C-4E0E567A8BA6}"/>
              </a:ext>
            </a:extLst>
          </p:cNvPr>
          <p:cNvSpPr>
            <a:spLocks noGrp="1"/>
          </p:cNvSpPr>
          <p:nvPr/>
        </p:nvSpPr>
        <p:spPr>
          <a:xfrm>
            <a:off x="9906000" y="4286250"/>
            <a:ext cx="1676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= 100%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84D62B-3227-423C-87D5-F4DC5F45752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742950"/>
          </a:xfrm>
          <a:prstGeom prst="rect">
            <a:avLst/>
          </a:prstGeom>
          <a:solidFill>
            <a:srgbClr val="102A63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A8EDE4-D062-4AF0-AD4E-ED35A9C27688}"/>
              </a:ext>
            </a:extLst>
          </p:cNvPr>
          <p:cNvSpPr>
            <a:spLocks noGrp="1"/>
          </p:cNvSpPr>
          <p:nvPr/>
        </p:nvSpPr>
        <p:spPr>
          <a:xfrm>
            <a:off x="838200" y="5391150"/>
            <a:ext cx="10515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MEDIUM creates a case. HIGH creates a case and prepares draft STR output. Model votes stay visible as diagnostics; policy weights determine the decision.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12DAD8-D0FD-460F-8647-1F05EB0EA4BB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198775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EF45513-C7C5-49CA-934A-1E3DF9A6B2B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UNSUPERVISED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FAEAC2-A5AE-48FD-9928-072CB4BFB4E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Behavioral Cluster Outlier gives the strongest current label-free separation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BD6DD-DC9A-4DD1-B8FB-3ACF43B46736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C636B1-46CC-4E4C-ABB6-54AB88E857B0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="609600" y="1638300"/>
          <a:ext cx="6477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6DFA1FF-F0B0-4F20-8967-FA7AEDDB9C18}"/>
              </a:ext>
            </a:extLst>
          </p:cNvPr>
          <p:cNvSpPr>
            <a:spLocks noGrp="1"/>
          </p:cNvSpPr>
          <p:nvPr/>
        </p:nvSpPr>
        <p:spPr>
          <a:xfrm>
            <a:off x="7524750" y="1752600"/>
            <a:ext cx="3619500" cy="47625"/>
          </a:xfrm>
          <a:prstGeom prst="rect">
            <a:avLst/>
          </a:prstGeom>
          <a:solidFill>
            <a:srgbClr val="16A36A"/>
          </a:solidFill>
          <a:ln w="0">
            <a:solidFill>
              <a:srgbClr val="16A36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E8970-49B7-4893-84EA-5743A173B092}"/>
              </a:ext>
            </a:extLst>
          </p:cNvPr>
          <p:cNvSpPr>
            <a:spLocks noGrp="1"/>
          </p:cNvSpPr>
          <p:nvPr/>
        </p:nvSpPr>
        <p:spPr>
          <a:xfrm>
            <a:off x="7524750" y="19050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BEST EM-AUC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2AF3C7-3916-4564-B68A-D0C8558F4C7C}"/>
              </a:ext>
            </a:extLst>
          </p:cNvPr>
          <p:cNvSpPr>
            <a:spLocks noGrp="1"/>
          </p:cNvSpPr>
          <p:nvPr/>
        </p:nvSpPr>
        <p:spPr>
          <a:xfrm>
            <a:off x="7524750" y="2162175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89.2 / 100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E9B677-513E-4812-A239-A6A5B6E89D86}"/>
              </a:ext>
            </a:extLst>
          </p:cNvPr>
          <p:cNvSpPr>
            <a:spLocks noGrp="1"/>
          </p:cNvSpPr>
          <p:nvPr/>
        </p:nvSpPr>
        <p:spPr>
          <a:xfrm>
            <a:off x="7524750" y="27051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Behavioral Cluster Outlier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DE388-37AB-487B-927C-FFE0484E803A}"/>
              </a:ext>
            </a:extLst>
          </p:cNvPr>
          <p:cNvSpPr>
            <a:spLocks noGrp="1"/>
          </p:cNvSpPr>
          <p:nvPr/>
        </p:nvSpPr>
        <p:spPr>
          <a:xfrm>
            <a:off x="7524750" y="3181350"/>
            <a:ext cx="3619500" cy="4762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B0A5E3-E942-4683-A476-2C6444F9B43B}"/>
              </a:ext>
            </a:extLst>
          </p:cNvPr>
          <p:cNvSpPr>
            <a:spLocks noGrp="1"/>
          </p:cNvSpPr>
          <p:nvPr/>
        </p:nvSpPr>
        <p:spPr>
          <a:xfrm>
            <a:off x="7524750" y="33337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LOWEST ANOMALY 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BEC8A9-DCDF-459C-AEB4-71A4187A3040}"/>
              </a:ext>
            </a:extLst>
          </p:cNvPr>
          <p:cNvSpPr>
            <a:spLocks noGrp="1"/>
          </p:cNvSpPr>
          <p:nvPr/>
        </p:nvSpPr>
        <p:spPr>
          <a:xfrm>
            <a:off x="7524750" y="3590925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0.82%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195C4-0097-45FE-ABEF-438DC1B306DE}"/>
              </a:ext>
            </a:extLst>
          </p:cNvPr>
          <p:cNvSpPr>
            <a:spLocks noGrp="1"/>
          </p:cNvSpPr>
          <p:nvPr/>
        </p:nvSpPr>
        <p:spPr>
          <a:xfrm>
            <a:off x="7524750" y="41338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412 of 50,000 rows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877345-0B46-4E71-BA74-B0FBAF7905C5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61950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23D5B-B917-41FE-A4DB-272CA1A3ECD3}"/>
              </a:ext>
            </a:extLst>
          </p:cNvPr>
          <p:cNvSpPr>
            <a:spLocks noGrp="1"/>
          </p:cNvSpPr>
          <p:nvPr/>
        </p:nvSpPr>
        <p:spPr>
          <a:xfrm>
            <a:off x="7524750" y="47625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FASTEST TRAINING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DCC4E9-126C-4B0B-894E-9B22808177D0}"/>
              </a:ext>
            </a:extLst>
          </p:cNvPr>
          <p:cNvSpPr>
            <a:spLocks noGrp="1"/>
          </p:cNvSpPr>
          <p:nvPr/>
        </p:nvSpPr>
        <p:spPr>
          <a:xfrm>
            <a:off x="7524750" y="5019675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1.31 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C630B1-9BE4-4FDA-A263-4F876E7DE73A}"/>
              </a:ext>
            </a:extLst>
          </p:cNvPr>
          <p:cNvSpPr>
            <a:spLocks noGrp="1"/>
          </p:cNvSpPr>
          <p:nvPr/>
        </p:nvSpPr>
        <p:spPr>
          <a:xfrm>
            <a:off x="7524750" y="55626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Isolation Forest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C3BE24-5DF1-4AF0-BB54-33AACADC7A3C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D92D20"/>
                </a:solidFill>
              </a:defRPr>
            </a:pPr>
            <a:r>
              <a:rPr sz="1575" b="1">
                <a:solidFill>
                  <a:srgbClr val="D92D20"/>
                </a:solidFill>
              </a:rPr>
              <a:t>EM-AUC evaluates anomaly-score structure; it is not fraud precision or recall.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4E8280-AA84-4EE7-91EA-17C2213215AD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140957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96536C7-B718-491D-94D8-71C9CD1D9F9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GROWTH COMPARISON PROTOCOL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690107-635C-45EE-A605-D848A92A0B7A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Every model is retested as the oldest history grows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D7E728-3A47-4801-BA47-1D54004894AC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B30BB8-F863-46E6-80F6-3AA08B59DEF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804E99-1E31-445C-ACBF-F9A86F99468D}"/>
              </a:ext>
            </a:extLst>
          </p:cNvPr>
          <p:cNvSpPr>
            <a:spLocks noGrp="1"/>
          </p:cNvSpPr>
          <p:nvPr/>
        </p:nvSpPr>
        <p:spPr>
          <a:xfrm>
            <a:off x="1466850" y="2714625"/>
            <a:ext cx="7715250" cy="476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037670-C2F0-4C85-AF34-D1154F1443EB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9525">
            <a:solidFill>
              <a:srgbClr val="B8C2D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5E74E-8210-4E86-B4CE-FE5F5D376CD2}"/>
              </a:ext>
            </a:extLst>
          </p:cNvPr>
          <p:cNvSpPr>
            <a:spLocks noGrp="1"/>
          </p:cNvSpPr>
          <p:nvPr/>
        </p:nvSpPr>
        <p:spPr>
          <a:xfrm>
            <a:off x="1143000" y="256222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81A3A"/>
                </a:solidFill>
              </a:defRPr>
            </a:pPr>
            <a:r>
              <a:rPr sz="1650" b="1">
                <a:solidFill>
                  <a:srgbClr val="081A3A"/>
                </a:solidFill>
              </a:rPr>
              <a:t>10%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A36DD2-32E4-43CE-81E9-C66D669741B4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E6F89"/>
                </a:solidFill>
              </a:defRPr>
            </a:pPr>
            <a:r>
              <a:rPr sz="1200" b="1">
                <a:solidFill>
                  <a:srgbClr val="5E6F89"/>
                </a:solidFill>
              </a:rPr>
              <a:t>Early signal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E8EE9D-0284-410E-B42B-76C5EAEE2344}"/>
              </a:ext>
            </a:extLst>
          </p:cNvPr>
          <p:cNvSpPr>
            <a:spLocks noGrp="1"/>
          </p:cNvSpPr>
          <p:nvPr/>
        </p:nvSpPr>
        <p:spPr>
          <a:xfrm>
            <a:off x="3714750" y="23812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9525">
            <a:solidFill>
              <a:srgbClr val="B8C2D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8FA87-F1BD-4532-8C82-EC544620DCB8}"/>
              </a:ext>
            </a:extLst>
          </p:cNvPr>
          <p:cNvSpPr>
            <a:spLocks noGrp="1"/>
          </p:cNvSpPr>
          <p:nvPr/>
        </p:nvSpPr>
        <p:spPr>
          <a:xfrm>
            <a:off x="3714750" y="256222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81A3A"/>
                </a:solidFill>
              </a:defRPr>
            </a:pPr>
            <a:r>
              <a:rPr sz="1650" b="1">
                <a:solidFill>
                  <a:srgbClr val="081A3A"/>
                </a:solidFill>
              </a:rPr>
              <a:t>25%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A1EAF3-F28B-4970-800F-43605B005686}"/>
              </a:ext>
            </a:extLst>
          </p:cNvPr>
          <p:cNvSpPr>
            <a:spLocks noGrp="1"/>
          </p:cNvSpPr>
          <p:nvPr/>
        </p:nvSpPr>
        <p:spPr>
          <a:xfrm>
            <a:off x="3390900" y="3276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E6F89"/>
                </a:solidFill>
              </a:defRPr>
            </a:pPr>
            <a:r>
              <a:rPr sz="1200" b="1">
                <a:solidFill>
                  <a:srgbClr val="5E6F89"/>
                </a:solidFill>
              </a:rPr>
              <a:t>Emerging pattern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F9AC61-D429-4F4F-8ADC-37D938D9281A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9525">
            <a:solidFill>
              <a:srgbClr val="B8C2D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8545E7-A765-4BCA-858D-07B1166B7AF9}"/>
              </a:ext>
            </a:extLst>
          </p:cNvPr>
          <p:cNvSpPr>
            <a:spLocks noGrp="1"/>
          </p:cNvSpPr>
          <p:nvPr/>
        </p:nvSpPr>
        <p:spPr>
          <a:xfrm>
            <a:off x="6286500" y="256222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81A3A"/>
                </a:solidFill>
              </a:defRPr>
            </a:pPr>
            <a:r>
              <a:rPr sz="1650" b="1">
                <a:solidFill>
                  <a:srgbClr val="081A3A"/>
                </a:solidFill>
              </a:rPr>
              <a:t>50%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C71ABF-61A0-4E06-BC35-409C7DAACF38}"/>
              </a:ext>
            </a:extLst>
          </p:cNvPr>
          <p:cNvSpPr>
            <a:spLocks noGrp="1"/>
          </p:cNvSpPr>
          <p:nvPr/>
        </p:nvSpPr>
        <p:spPr>
          <a:xfrm>
            <a:off x="5962650" y="3276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E6F89"/>
                </a:solidFill>
              </a:defRPr>
            </a:pPr>
            <a:r>
              <a:rPr sz="1200" b="1">
                <a:solidFill>
                  <a:srgbClr val="5E6F89"/>
                </a:solidFill>
              </a:rPr>
              <a:t>Stability check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FF55A9-EF2E-407C-8936-1D98810BFA25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CBB8E6-F4B4-4C3B-9D44-B657B719E26D}"/>
              </a:ext>
            </a:extLst>
          </p:cNvPr>
          <p:cNvSpPr>
            <a:spLocks noGrp="1"/>
          </p:cNvSpPr>
          <p:nvPr/>
        </p:nvSpPr>
        <p:spPr>
          <a:xfrm>
            <a:off x="8858250" y="256222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A785E9-6389-4F69-BCC4-0E73A2D0206C}"/>
              </a:ext>
            </a:extLst>
          </p:cNvPr>
          <p:cNvSpPr>
            <a:spLocks noGrp="1"/>
          </p:cNvSpPr>
          <p:nvPr/>
        </p:nvSpPr>
        <p:spPr>
          <a:xfrm>
            <a:off x="8534400" y="3276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E6F89"/>
                </a:solidFill>
              </a:defRPr>
            </a:pPr>
            <a:r>
              <a:rPr sz="1200" b="1">
                <a:solidFill>
                  <a:srgbClr val="5E6F89"/>
                </a:solidFill>
              </a:rPr>
              <a:t>Full history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71899-1EAE-4DB7-9CF1-FDB84D1F6BC9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81A3A"/>
                </a:solidFill>
              </a:defRPr>
            </a:pPr>
            <a:r>
              <a:rPr sz="2025" b="1">
                <a:solidFill>
                  <a:srgbClr val="081A3A"/>
                </a:solidFill>
              </a:rPr>
              <a:t>Oldest transactions first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3F1CA1-10CE-4182-97C9-C660D5A4FE9E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The timestamp order never changes; only the amount of available history grows.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B4E004-7C46-41D2-992F-A54BEF1D870F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1A3A"/>
                </a:solidFill>
              </a:defRPr>
            </a:pPr>
            <a:r>
              <a:rPr sz="1800" b="1">
                <a:solidFill>
                  <a:srgbClr val="081A3A"/>
                </a:solidFill>
              </a:rPr>
              <a:t>What the matrix reveals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3887CF-F20E-4FE1-AAC9-A71CFDB80257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B9AA0D-B9AA-4AA7-BF9D-94135CBEB8EE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1005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Does quality improve, decline, or oscillate?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524E6A-1F02-45C9-B5A0-5438067BC1A4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6A8E45-CF25-4804-9589-9B6C061D4195}"/>
              </a:ext>
            </a:extLst>
          </p:cNvPr>
          <p:cNvSpPr>
            <a:spLocks noGrp="1"/>
          </p:cNvSpPr>
          <p:nvPr/>
        </p:nvSpPr>
        <p:spPr>
          <a:xfrm>
            <a:off x="838200" y="4972050"/>
            <a:ext cx="1005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Does anomaly/classification volume stabilize?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79BC93-230D-4223-A5CC-5B55CB428CCC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B81FBC-BB5A-4927-BF26-B054A504F62D}"/>
              </a:ext>
            </a:extLst>
          </p:cNvPr>
          <p:cNvSpPr>
            <a:spLocks noGrp="1"/>
          </p:cNvSpPr>
          <p:nvPr/>
        </p:nvSpPr>
        <p:spPr>
          <a:xfrm>
            <a:off x="838200" y="5391150"/>
            <a:ext cx="1005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What is the training and scoring cost?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7F23BC-2EF7-4EFC-BAA9-89F72A2F2B75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952E79-9A38-430C-B49F-7E5810A8EF45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1005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Which model remains credible at production scale?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9165E5-6134-4569-9FBD-E262B10202C1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672912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E21009-DBAB-4762-B1BB-5F66F22035C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SUPERVISED PROTOCOL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942259-DB00-4BC8-976F-E29C394D167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Supervised models are calibrated for rare-event decisions—not raw accuracy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D4E92C-37FA-447E-A76A-A64BA375E8A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4E30B7-ABE4-459F-8DF3-0DE8D30C4C3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10108-09F2-43A5-A532-36F2B160345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A12CB-58E1-41AF-B5A9-B1F316348808}"/>
              </a:ext>
            </a:extLst>
          </p:cNvPr>
          <p:cNvSpPr>
            <a:spLocks noGrp="1"/>
          </p:cNvSpPr>
          <p:nvPr/>
        </p:nvSpPr>
        <p:spPr>
          <a:xfrm>
            <a:off x="1333500" y="16192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1A3A"/>
                </a:solidFill>
              </a:defRPr>
            </a:pPr>
            <a:r>
              <a:rPr sz="1800" b="1">
                <a:solidFill>
                  <a:srgbClr val="081A3A"/>
                </a:solidFill>
              </a:rPr>
              <a:t>XGBoost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2CB7B-7096-4ACD-941F-E21D30D61994}"/>
              </a:ext>
            </a:extLst>
          </p:cNvPr>
          <p:cNvSpPr>
            <a:spLocks noGrp="1"/>
          </p:cNvSpPr>
          <p:nvPr/>
        </p:nvSpPr>
        <p:spPr>
          <a:xfrm>
            <a:off x="5334000" y="1619250"/>
            <a:ext cx="571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Gradient boosting for nonlinear interactions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C95270-82B4-4A84-A9A7-4620F689B9FE}"/>
              </a:ext>
            </a:extLst>
          </p:cNvPr>
          <p:cNvSpPr>
            <a:spLocks noGrp="1"/>
          </p:cNvSpPr>
          <p:nvPr/>
        </p:nvSpPr>
        <p:spPr>
          <a:xfrm>
            <a:off x="1333500" y="2247900"/>
            <a:ext cx="97155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C0DA86-F090-452B-A57A-B23EF739D842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295245-F486-427E-98B7-79040FFCD3D6}"/>
              </a:ext>
            </a:extLst>
          </p:cNvPr>
          <p:cNvSpPr>
            <a:spLocks noGrp="1"/>
          </p:cNvSpPr>
          <p:nvPr/>
        </p:nvSpPr>
        <p:spPr>
          <a:xfrm>
            <a:off x="1333500" y="26479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1A3A"/>
                </a:solidFill>
              </a:defRPr>
            </a:pPr>
            <a:r>
              <a:rPr sz="1800" b="1">
                <a:solidFill>
                  <a:srgbClr val="081A3A"/>
                </a:solidFill>
              </a:rPr>
              <a:t>Class-Balanced Random Forest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68FD3F-1F9D-4244-A667-430ED87E1A33}"/>
              </a:ext>
            </a:extLst>
          </p:cNvPr>
          <p:cNvSpPr>
            <a:spLocks noGrp="1"/>
          </p:cNvSpPr>
          <p:nvPr/>
        </p:nvSpPr>
        <p:spPr>
          <a:xfrm>
            <a:off x="5334000" y="2647950"/>
            <a:ext cx="571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Robust bagged benchmark under imbalance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6DE163-4E60-4E52-AA85-D1CDB6A90E44}"/>
              </a:ext>
            </a:extLst>
          </p:cNvPr>
          <p:cNvSpPr>
            <a:spLocks noGrp="1"/>
          </p:cNvSpPr>
          <p:nvPr/>
        </p:nvSpPr>
        <p:spPr>
          <a:xfrm>
            <a:off x="1333500" y="3276600"/>
            <a:ext cx="97155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B4C0B1-7C73-4FD2-80EC-1BD7EB9B3979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86935E-3B4A-4E98-A143-6D2E9911B020}"/>
              </a:ext>
            </a:extLst>
          </p:cNvPr>
          <p:cNvSpPr>
            <a:spLocks noGrp="1"/>
          </p:cNvSpPr>
          <p:nvPr/>
        </p:nvSpPr>
        <p:spPr>
          <a:xfrm>
            <a:off x="1333500" y="36766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1A3A"/>
                </a:solidFill>
              </a:defRPr>
            </a:pPr>
            <a:r>
              <a:rPr sz="1800" b="1">
                <a:solidFill>
                  <a:srgbClr val="081A3A"/>
                </a:solidFill>
              </a:rPr>
              <a:t>Extra Trees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01569B-27B7-43BF-B771-AE24F4628C2E}"/>
              </a:ext>
            </a:extLst>
          </p:cNvPr>
          <p:cNvSpPr>
            <a:spLocks noGrp="1"/>
          </p:cNvSpPr>
          <p:nvPr/>
        </p:nvSpPr>
        <p:spPr>
          <a:xfrm>
            <a:off x="5334000" y="3676650"/>
            <a:ext cx="571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Randomized splits for diversity and efficiency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85848-FC13-467C-8361-1A7B86EF9D59}"/>
              </a:ext>
            </a:extLst>
          </p:cNvPr>
          <p:cNvSpPr>
            <a:spLocks noGrp="1"/>
          </p:cNvSpPr>
          <p:nvPr/>
        </p:nvSpPr>
        <p:spPr>
          <a:xfrm>
            <a:off x="1333500" y="4305300"/>
            <a:ext cx="97155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14EF53-D6C5-4D23-8DD8-4A5B6FAF7646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1066800"/>
          </a:xfrm>
          <a:prstGeom prst="rect">
            <a:avLst/>
          </a:prstGeom>
          <a:solidFill>
            <a:srgbClr val="EDF1F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47AE63-30F7-4FF7-A83F-6DD4BBA5B52B}"/>
              </a:ext>
            </a:extLst>
          </p:cNvPr>
          <p:cNvSpPr>
            <a:spLocks noGrp="1"/>
          </p:cNvSpPr>
          <p:nvPr/>
        </p:nvSpPr>
        <p:spPr>
          <a:xfrm>
            <a:off x="838200" y="5048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Operating-point rule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9CAEE4-3EEE-4C23-AA4B-A909F5E9EA26}"/>
              </a:ext>
            </a:extLst>
          </p:cNvPr>
          <p:cNvSpPr>
            <a:spLocks noGrp="1"/>
          </p:cNvSpPr>
          <p:nvPr/>
        </p:nvSpPr>
        <p:spPr>
          <a:xfrm>
            <a:off x="838200" y="53530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1A3A"/>
                </a:solidFill>
              </a:defRPr>
            </a:pPr>
            <a:r>
              <a:rPr sz="1575" b="1">
                <a:solidFill>
                  <a:srgbClr val="081A3A"/>
                </a:solidFill>
              </a:rPr>
              <a:t>Choose the threshold on calibration data to maximize recall while maintaining at least 70% calibration precision. Report once on the untouched newest 20%.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88B338-65D6-4492-B6C0-F06DCF069845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29886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8A214DE-0501-4F62-9499-790BA9EA700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STRONGEST REPRODUCIBLE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79BA7-7F93-438C-AA70-E5E8FB32CB7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Extra Trees exceeds 70% precision and recall on the untouched period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528608-336D-4B68-905A-7502E1726C1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AC652-BA07-457B-B480-DFBC022578EF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3D828-F897-4C7E-9921-D8EA1D6F6119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2190750" cy="4762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091D8-6202-4A6F-B903-C29CF36ABA6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PR-AUC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A37E0-2ADB-47AD-858C-7F28E6E332E3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73.3%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0401FC-7915-4347-88B3-65C3A8088CC5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Ranking quality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8179D3-5BC3-4810-B375-D618E06F4252}"/>
              </a:ext>
            </a:extLst>
          </p:cNvPr>
          <p:cNvSpPr>
            <a:spLocks noGrp="1"/>
          </p:cNvSpPr>
          <p:nvPr/>
        </p:nvSpPr>
        <p:spPr>
          <a:xfrm>
            <a:off x="3086100" y="1581150"/>
            <a:ext cx="2190750" cy="47625"/>
          </a:xfrm>
          <a:prstGeom prst="rect">
            <a:avLst/>
          </a:prstGeom>
          <a:solidFill>
            <a:srgbClr val="16A36A"/>
          </a:solidFill>
          <a:ln w="0">
            <a:solidFill>
              <a:srgbClr val="16A36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F5EF17-1994-4BB5-AA5A-42992F7BF0BA}"/>
              </a:ext>
            </a:extLst>
          </p:cNvPr>
          <p:cNvSpPr>
            <a:spLocks noGrp="1"/>
          </p:cNvSpPr>
          <p:nvPr/>
        </p:nvSpPr>
        <p:spPr>
          <a:xfrm>
            <a:off x="3086100" y="1733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PRECISION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8A6495-7180-4164-98CD-376117FF3D45}"/>
              </a:ext>
            </a:extLst>
          </p:cNvPr>
          <p:cNvSpPr>
            <a:spLocks noGrp="1"/>
          </p:cNvSpPr>
          <p:nvPr/>
        </p:nvSpPr>
        <p:spPr>
          <a:xfrm>
            <a:off x="3086100" y="1990725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74.8%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767D0E-EC25-464B-98F6-4C7B876AD687}"/>
              </a:ext>
            </a:extLst>
          </p:cNvPr>
          <p:cNvSpPr>
            <a:spLocks noGrp="1"/>
          </p:cNvSpPr>
          <p:nvPr/>
        </p:nvSpPr>
        <p:spPr>
          <a:xfrm>
            <a:off x="3086100" y="2533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323 / 432 alerts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5D700E-DA12-419B-9FF4-54DEAE81ADAB}"/>
              </a:ext>
            </a:extLst>
          </p:cNvPr>
          <p:cNvSpPr>
            <a:spLocks noGrp="1"/>
          </p:cNvSpPr>
          <p:nvPr/>
        </p:nvSpPr>
        <p:spPr>
          <a:xfrm>
            <a:off x="5562600" y="1581150"/>
            <a:ext cx="2190750" cy="47625"/>
          </a:xfrm>
          <a:prstGeom prst="rect">
            <a:avLst/>
          </a:prstGeom>
          <a:solidFill>
            <a:srgbClr val="16A36A"/>
          </a:solidFill>
          <a:ln w="0">
            <a:solidFill>
              <a:srgbClr val="16A36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23948B-D78F-4B26-B3BD-F5B51F97BEE3}"/>
              </a:ext>
            </a:extLst>
          </p:cNvPr>
          <p:cNvSpPr>
            <a:spLocks noGrp="1"/>
          </p:cNvSpPr>
          <p:nvPr/>
        </p:nvSpPr>
        <p:spPr>
          <a:xfrm>
            <a:off x="5562600" y="1733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RECALL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2C4AA3-E1C6-4BCD-8795-12A4FDAC9F42}"/>
              </a:ext>
            </a:extLst>
          </p:cNvPr>
          <p:cNvSpPr>
            <a:spLocks noGrp="1"/>
          </p:cNvSpPr>
          <p:nvPr/>
        </p:nvSpPr>
        <p:spPr>
          <a:xfrm>
            <a:off x="5562600" y="1990725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71.8%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D1407-AB4C-4189-A2E5-36439C8980A8}"/>
              </a:ext>
            </a:extLst>
          </p:cNvPr>
          <p:cNvSpPr>
            <a:spLocks noGrp="1"/>
          </p:cNvSpPr>
          <p:nvPr/>
        </p:nvSpPr>
        <p:spPr>
          <a:xfrm>
            <a:off x="5562600" y="2533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323 / 450 frauds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AA42C7-D9CD-49B6-BEEE-10D1BC701533}"/>
              </a:ext>
            </a:extLst>
          </p:cNvPr>
          <p:cNvSpPr>
            <a:spLocks noGrp="1"/>
          </p:cNvSpPr>
          <p:nvPr/>
        </p:nvSpPr>
        <p:spPr>
          <a:xfrm>
            <a:off x="8039100" y="1581150"/>
            <a:ext cx="2190750" cy="4762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0E335E-9632-4181-A9C3-87E7C3B525C8}"/>
              </a:ext>
            </a:extLst>
          </p:cNvPr>
          <p:cNvSpPr>
            <a:spLocks noGrp="1"/>
          </p:cNvSpPr>
          <p:nvPr/>
        </p:nvSpPr>
        <p:spPr>
          <a:xfrm>
            <a:off x="8039100" y="1733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F1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3A0424-A680-428E-A31D-E5537209A1CD}"/>
              </a:ext>
            </a:extLst>
          </p:cNvPr>
          <p:cNvSpPr>
            <a:spLocks noGrp="1"/>
          </p:cNvSpPr>
          <p:nvPr/>
        </p:nvSpPr>
        <p:spPr>
          <a:xfrm>
            <a:off x="8039100" y="1990725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sz="2550" b="1">
                <a:solidFill>
                  <a:srgbClr val="081A3A"/>
                </a:solidFill>
              </a:rPr>
              <a:t>73.2%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A2BBEC-DB32-4C8D-A136-DD082E650EFC}"/>
              </a:ext>
            </a:extLst>
          </p:cNvPr>
          <p:cNvSpPr>
            <a:spLocks noGrp="1"/>
          </p:cNvSpPr>
          <p:nvPr/>
        </p:nvSpPr>
        <p:spPr>
          <a:xfrm>
            <a:off x="8039100" y="2533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Balanced operating point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3C0E74-9246-4B28-9ED3-DB8B8F930A30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A3A"/>
                </a:solidFill>
              </a:defRPr>
            </a:pPr>
            <a:r>
              <a:rPr sz="1650" b="1">
                <a:solidFill>
                  <a:srgbClr val="081A3A"/>
                </a:solidFill>
              </a:rPr>
              <a:t>Untouched newest 52,900 transactions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383734-F234-4EA1-8296-7C8F3FE1BB40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E6F89"/>
                </a:solidFill>
              </a:defRPr>
            </a:pPr>
            <a:r>
              <a:rPr sz="1200" b="1">
                <a:solidFill>
                  <a:srgbClr val="5E6F89"/>
                </a:solidFill>
              </a:rPr>
              <a:t>Actual legitimate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E2C888-8427-4FA4-9DC2-23D8F68E98D8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E6F89"/>
                </a:solidFill>
              </a:defRPr>
            </a:pPr>
            <a:r>
              <a:rPr sz="1200" b="1">
                <a:solidFill>
                  <a:srgbClr val="5E6F89"/>
                </a:solidFill>
              </a:rPr>
              <a:t>Actual fraud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AAB5270-BE4F-46C8-B771-9066501C8C47}"/>
              </a:ext>
            </a:extLst>
          </p:cNvPr>
          <p:cNvSpPr>
            <a:spLocks noGrp="1"/>
          </p:cNvSpPr>
          <p:nvPr/>
        </p:nvSpPr>
        <p:spPr>
          <a:xfrm>
            <a:off x="2190750" y="3562350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E8F8F1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C182DF-EB95-47A8-94C3-23849DF5C2FE}"/>
              </a:ext>
            </a:extLst>
          </p:cNvPr>
          <p:cNvSpPr>
            <a:spLocks noGrp="1"/>
          </p:cNvSpPr>
          <p:nvPr/>
        </p:nvSpPr>
        <p:spPr>
          <a:xfrm>
            <a:off x="2286000" y="36766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True negative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A53B26-AD84-4FE0-BFB7-98B2124E3126}"/>
              </a:ext>
            </a:extLst>
          </p:cNvPr>
          <p:cNvSpPr>
            <a:spLocks noGrp="1"/>
          </p:cNvSpPr>
          <p:nvPr/>
        </p:nvSpPr>
        <p:spPr>
          <a:xfrm>
            <a:off x="2286000" y="3943350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52,341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AC034C3-EEB9-4785-A1A2-DA361361E3E8}"/>
              </a:ext>
            </a:extLst>
          </p:cNvPr>
          <p:cNvSpPr>
            <a:spLocks noGrp="1"/>
          </p:cNvSpPr>
          <p:nvPr/>
        </p:nvSpPr>
        <p:spPr>
          <a:xfrm>
            <a:off x="4324350" y="3562350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FDECEA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35E062-5668-45E8-A869-D21F2EA5977D}"/>
              </a:ext>
            </a:extLst>
          </p:cNvPr>
          <p:cNvSpPr>
            <a:spLocks noGrp="1"/>
          </p:cNvSpPr>
          <p:nvPr/>
        </p:nvSpPr>
        <p:spPr>
          <a:xfrm>
            <a:off x="4419600" y="36766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False positive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F265DA-1C02-41A7-A26D-7F28703DD374}"/>
              </a:ext>
            </a:extLst>
          </p:cNvPr>
          <p:cNvSpPr>
            <a:spLocks noGrp="1"/>
          </p:cNvSpPr>
          <p:nvPr/>
        </p:nvSpPr>
        <p:spPr>
          <a:xfrm>
            <a:off x="4419600" y="3943350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D92D20"/>
                </a:solidFill>
              </a:defRPr>
            </a:pPr>
            <a:r>
              <a:rPr sz="1950" b="1">
                <a:solidFill>
                  <a:srgbClr val="D92D20"/>
                </a:solidFill>
              </a:rPr>
              <a:t>109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25C5D36-922D-4974-B30D-87F5B641FF90}"/>
              </a:ext>
            </a:extLst>
          </p:cNvPr>
          <p:cNvSpPr>
            <a:spLocks noGrp="1"/>
          </p:cNvSpPr>
          <p:nvPr/>
        </p:nvSpPr>
        <p:spPr>
          <a:xfrm>
            <a:off x="2190750" y="4610100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FDECEA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2B18D0-9768-4AB8-8EB8-C3DFF57115CE}"/>
              </a:ext>
            </a:extLst>
          </p:cNvPr>
          <p:cNvSpPr>
            <a:spLocks noGrp="1"/>
          </p:cNvSpPr>
          <p:nvPr/>
        </p:nvSpPr>
        <p:spPr>
          <a:xfrm>
            <a:off x="2286000" y="4724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False negative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F0649D-7E19-402D-BA8A-56F986B89EF5}"/>
              </a:ext>
            </a:extLst>
          </p:cNvPr>
          <p:cNvSpPr>
            <a:spLocks noGrp="1"/>
          </p:cNvSpPr>
          <p:nvPr/>
        </p:nvSpPr>
        <p:spPr>
          <a:xfrm>
            <a:off x="2286000" y="4991100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D92D20"/>
                </a:solidFill>
              </a:defRPr>
            </a:pPr>
            <a:r>
              <a:rPr sz="1950" b="1">
                <a:solidFill>
                  <a:srgbClr val="D92D20"/>
                </a:solidFill>
              </a:rPr>
              <a:t>127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9C793C3-C128-4A3A-B177-9873FABBA89A}"/>
              </a:ext>
            </a:extLst>
          </p:cNvPr>
          <p:cNvSpPr>
            <a:spLocks noGrp="1"/>
          </p:cNvSpPr>
          <p:nvPr/>
        </p:nvSpPr>
        <p:spPr>
          <a:xfrm>
            <a:off x="4324350" y="4610100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E8F8F1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8948BB-6527-49FA-95C4-AEBFA6C4F73F}"/>
              </a:ext>
            </a:extLst>
          </p:cNvPr>
          <p:cNvSpPr>
            <a:spLocks noGrp="1"/>
          </p:cNvSpPr>
          <p:nvPr/>
        </p:nvSpPr>
        <p:spPr>
          <a:xfrm>
            <a:off x="4419600" y="4724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True positive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CDE828-AE18-4367-A2B2-F6A16AC4D8AA}"/>
              </a:ext>
            </a:extLst>
          </p:cNvPr>
          <p:cNvSpPr>
            <a:spLocks noGrp="1"/>
          </p:cNvSpPr>
          <p:nvPr/>
        </p:nvSpPr>
        <p:spPr>
          <a:xfrm>
            <a:off x="4419600" y="4991100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323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2AFB52-2026-4B02-A122-96026E89534C}"/>
              </a:ext>
            </a:extLst>
          </p:cNvPr>
          <p:cNvSpPr>
            <a:spLocks noGrp="1"/>
          </p:cNvSpPr>
          <p:nvPr/>
        </p:nvSpPr>
        <p:spPr>
          <a:xfrm>
            <a:off x="6953250" y="3562350"/>
            <a:ext cx="4210050" cy="192405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2985D2-8680-4368-BF21-8C55ACA6D008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Why this matters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9FBEF2-ED6A-459D-9BD2-3BDFB07EF458}"/>
              </a:ext>
            </a:extLst>
          </p:cNvPr>
          <p:cNvSpPr>
            <a:spLocks noGrp="1"/>
          </p:cNvSpPr>
          <p:nvPr/>
        </p:nvSpPr>
        <p:spPr>
          <a:xfrm>
            <a:off x="7219950" y="4191000"/>
            <a:ext cx="34766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The result remains credible under 0.8847% fraud prevalence, chronological separation, and a threshold chosen before the final test period.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9BFBF7-D74F-40FF-84A3-523870657D88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39632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8BB018A-44DA-44E5-95EC-A3D8D6916AF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FUSION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13713-9E1B-4D18-8E0F-81C5B71532E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Fusion is useful only when measured—it does not automatically beat one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A1FD87-E911-4B7E-9D0A-4C657EC9DBF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B467D8-0AF0-44F0-981B-988CA857EB8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282260"/>
            <a:ext cx="6953250" cy="2293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C6E55A-ADC4-482B-AD04-229BBA92AEF2}"/>
              </a:ext>
            </a:extLst>
          </p:cNvPr>
          <p:cNvSpPr>
            <a:spLocks noGrp="1"/>
          </p:cNvSpPr>
          <p:nvPr/>
        </p:nvSpPr>
        <p:spPr>
          <a:xfrm>
            <a:off x="7943850" y="1562100"/>
            <a:ext cx="3219450" cy="3733800"/>
          </a:xfrm>
          <a:prstGeom prst="rect">
            <a:avLst/>
          </a:prstGeom>
          <a:solidFill>
            <a:srgbClr val="EDF1F6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3606F-6282-446A-9555-7065957F622C}"/>
              </a:ext>
            </a:extLst>
          </p:cNvPr>
          <p:cNvSpPr>
            <a:spLocks noGrp="1"/>
          </p:cNvSpPr>
          <p:nvPr/>
        </p:nvSpPr>
        <p:spPr>
          <a:xfrm>
            <a:off x="8172450" y="18097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Measured conclusion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88EEB-39BF-448B-B58A-A29DCE023040}"/>
              </a:ext>
            </a:extLst>
          </p:cNvPr>
          <p:cNvSpPr>
            <a:spLocks noGrp="1"/>
          </p:cNvSpPr>
          <p:nvPr/>
        </p:nvSpPr>
        <p:spPr>
          <a:xfrm>
            <a:off x="8172450" y="222885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81A3A"/>
                </a:solidFill>
              </a:defRPr>
            </a:pPr>
            <a:r>
              <a:rPr sz="1875" b="1">
                <a:solidFill>
                  <a:srgbClr val="081A3A"/>
                </a:solidFill>
              </a:rPr>
              <a:t>Weighted probability ensemble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1F7743-D72A-41E9-A739-2D38B3936C83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266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02A63"/>
                </a:solidFill>
              </a:defRPr>
            </a:pPr>
            <a:r>
              <a:rPr sz="2250" b="1">
                <a:solidFill>
                  <a:srgbClr val="102A63"/>
                </a:solidFill>
              </a:rPr>
              <a:t>58.7% precision</a:t>
            </a:r>
          </a:p>
          <a:p>
            <a:pPr algn="l">
              <a:defRPr sz="2250" b="1">
                <a:solidFill>
                  <a:srgbClr val="102A63"/>
                </a:solidFill>
              </a:defRPr>
            </a:pPr>
            <a:r>
              <a:rPr sz="2250" b="1">
                <a:solidFill>
                  <a:srgbClr val="102A63"/>
                </a:solidFill>
              </a:rPr>
              <a:t>65.9% recall</a:t>
            </a:r>
          </a:p>
          <a:p>
            <a:pPr algn="l">
              <a:defRPr sz="2250" b="1">
                <a:solidFill>
                  <a:srgbClr val="102A63"/>
                </a:solidFill>
              </a:defRPr>
            </a:pPr>
            <a:r>
              <a:rPr sz="2250" b="1">
                <a:solidFill>
                  <a:srgbClr val="102A63"/>
                </a:solidFill>
              </a:rPr>
              <a:t>62.0% F1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8CEC67-EA6C-465B-95EB-CADBCFF66701}"/>
              </a:ext>
            </a:extLst>
          </p:cNvPr>
          <p:cNvSpPr>
            <a:spLocks noGrp="1"/>
          </p:cNvSpPr>
          <p:nvPr/>
        </p:nvSpPr>
        <p:spPr>
          <a:xfrm>
            <a:off x="8172450" y="4171950"/>
            <a:ext cx="2571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F89"/>
                </a:solidFill>
              </a:defRPr>
            </a:pPr>
            <a:r>
              <a:rPr sz="1350" b="0">
                <a:solidFill>
                  <a:srgbClr val="5E6F89"/>
                </a:solidFill>
              </a:rPr>
              <a:t>The fusion result is close to—not clearly better than—the strongest standalone classifier on this 25,000-row integration snapshot.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4E5789-E5F2-4D20-807F-B9231BEA6B7E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Temporal stacking remains a research comparison but is removed from production-model selection.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C1EC1E-2C0D-413C-BDB4-FF33E224CB2D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415891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3A2B14-2CA2-453E-AC50-70E9B5A1F46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FULL POLICY REPLAY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A21AC2-82E1-4D7C-9399-FC802A06677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The current four-layer policy needs calibration before deployment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DB9E6E-15AD-427E-B96F-8B3C4B023CF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45A45-DA9D-439A-B009-5B9181EC7B83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730FBD-CBE1-4620-9881-A1FA0B3FF917}"/>
              </a:ext>
            </a:extLst>
          </p:cNvPr>
          <p:cNvSpPr>
            <a:spLocks noGrp="1"/>
          </p:cNvSpPr>
          <p:nvPr/>
        </p:nvSpPr>
        <p:spPr>
          <a:xfrm>
            <a:off x="7848600" y="1657350"/>
            <a:ext cx="3238500" cy="47625"/>
          </a:xfrm>
          <a:prstGeom prst="rect">
            <a:avLst/>
          </a:prstGeom>
          <a:solidFill>
            <a:srgbClr val="D92D20"/>
          </a:solidFill>
          <a:ln w="0">
            <a:solidFill>
              <a:srgbClr val="D92D2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4DB3F-7F48-483D-94DC-601FB6B652B5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CASE PRECISION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3F161-CB95-446F-84EC-1454C1890F22}"/>
              </a:ext>
            </a:extLst>
          </p:cNvPr>
          <p:cNvSpPr>
            <a:spLocks noGrp="1"/>
          </p:cNvSpPr>
          <p:nvPr/>
        </p:nvSpPr>
        <p:spPr>
          <a:xfrm>
            <a:off x="7848600" y="2066925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lang="en-US" sz="2550" b="1" dirty="0">
                <a:solidFill>
                  <a:srgbClr val="081A3A"/>
                </a:solidFill>
              </a:rPr>
              <a:t>80.9</a:t>
            </a:r>
            <a:r>
              <a:rPr sz="2550" b="1" dirty="0">
                <a:solidFill>
                  <a:srgbClr val="081A3A"/>
                </a:solidFill>
              </a:rPr>
              <a:t>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02EB4-2605-417E-96E1-A02DFE7AF8A1}"/>
              </a:ext>
            </a:extLst>
          </p:cNvPr>
          <p:cNvSpPr>
            <a:spLocks noGrp="1"/>
          </p:cNvSpPr>
          <p:nvPr/>
        </p:nvSpPr>
        <p:spPr>
          <a:xfrm>
            <a:off x="7848600" y="26098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99 false positives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58F07D-E373-4865-AD3F-BFE79DAD1B8E}"/>
              </a:ext>
            </a:extLst>
          </p:cNvPr>
          <p:cNvSpPr>
            <a:spLocks noGrp="1"/>
          </p:cNvSpPr>
          <p:nvPr/>
        </p:nvSpPr>
        <p:spPr>
          <a:xfrm>
            <a:off x="7848600" y="2952750"/>
            <a:ext cx="3238500" cy="47625"/>
          </a:xfrm>
          <a:prstGeom prst="rect">
            <a:avLst/>
          </a:prstGeom>
          <a:solidFill>
            <a:srgbClr val="D92D20"/>
          </a:solidFill>
          <a:ln w="0">
            <a:solidFill>
              <a:srgbClr val="D92D2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8A09FB-7E80-431D-9A12-0F2FB6C909E5}"/>
              </a:ext>
            </a:extLst>
          </p:cNvPr>
          <p:cNvSpPr>
            <a:spLocks noGrp="1"/>
          </p:cNvSpPr>
          <p:nvPr/>
        </p:nvSpPr>
        <p:spPr>
          <a:xfrm>
            <a:off x="7848600" y="31051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F89"/>
                </a:solidFill>
              </a:defRPr>
            </a:pPr>
            <a:r>
              <a:rPr sz="975" b="1">
                <a:solidFill>
                  <a:srgbClr val="5E6F89"/>
                </a:solidFill>
              </a:rPr>
              <a:t>CASE RECALL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4BD85-BE6D-4415-BE78-23243D42095F}"/>
              </a:ext>
            </a:extLst>
          </p:cNvPr>
          <p:cNvSpPr>
            <a:spLocks noGrp="1"/>
          </p:cNvSpPr>
          <p:nvPr/>
        </p:nvSpPr>
        <p:spPr>
          <a:xfrm>
            <a:off x="7848600" y="3362325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1A3A"/>
                </a:solidFill>
              </a:defRPr>
            </a:pPr>
            <a:r>
              <a:rPr lang="en-US" sz="2550" b="1" dirty="0">
                <a:solidFill>
                  <a:srgbClr val="081A3A"/>
                </a:solidFill>
              </a:rPr>
              <a:t>78</a:t>
            </a:r>
            <a:r>
              <a:rPr sz="2550" b="1" dirty="0">
                <a:solidFill>
                  <a:srgbClr val="081A3A"/>
                </a:solidFill>
              </a:rPr>
              <a:t>.</a:t>
            </a:r>
            <a:r>
              <a:rPr lang="en-US" sz="2550" b="1" dirty="0">
                <a:solidFill>
                  <a:srgbClr val="081A3A"/>
                </a:solidFill>
              </a:rPr>
              <a:t>0</a:t>
            </a:r>
            <a:r>
              <a:rPr sz="2550" b="1" dirty="0">
                <a:solidFill>
                  <a:srgbClr val="081A3A"/>
                </a:solidFill>
              </a:rPr>
              <a:t>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64B16-2AF9-4092-9F20-C7BF52DA80A4}"/>
              </a:ext>
            </a:extLst>
          </p:cNvPr>
          <p:cNvSpPr>
            <a:spLocks noGrp="1"/>
          </p:cNvSpPr>
          <p:nvPr/>
        </p:nvSpPr>
        <p:spPr>
          <a:xfrm>
            <a:off x="7848600" y="39052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F89"/>
                </a:solidFill>
              </a:defRPr>
            </a:pPr>
            <a:r>
              <a:rPr sz="1050" b="0">
                <a:solidFill>
                  <a:srgbClr val="5E6F89"/>
                </a:solidFill>
              </a:rPr>
              <a:t>118 frauds missed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458402-9351-4F7D-840A-06F587EA6426}"/>
              </a:ext>
            </a:extLst>
          </p:cNvPr>
          <p:cNvSpPr>
            <a:spLocks noGrp="1"/>
          </p:cNvSpPr>
          <p:nvPr/>
        </p:nvSpPr>
        <p:spPr>
          <a:xfrm>
            <a:off x="7848600" y="4248150"/>
            <a:ext cx="323850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57511F-6272-4D9D-9560-0211E03EC2E1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477500" cy="457200"/>
          </a:xfrm>
          <a:prstGeom prst="rect">
            <a:avLst/>
          </a:prstGeom>
          <a:solidFill>
            <a:srgbClr val="FDECEA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53639C-DC4F-43ED-81A0-3A35305A2060}"/>
              </a:ext>
            </a:extLst>
          </p:cNvPr>
          <p:cNvSpPr>
            <a:spLocks noGrp="1"/>
          </p:cNvSpPr>
          <p:nvPr/>
        </p:nvSpPr>
        <p:spPr>
          <a:xfrm>
            <a:off x="800100" y="5781675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D92D20"/>
                </a:solidFill>
              </a:defRPr>
            </a:pPr>
            <a:r>
              <a:rPr sz="1425" b="1" dirty="0">
                <a:solidFill>
                  <a:srgbClr val="D92D20"/>
                </a:solidFill>
              </a:rPr>
              <a:t>Customer, peer, and rules improve explanation and AML control.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733917-E318-4D0E-A262-5A0684B1B37B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679500B-2EEF-CD5F-7060-1455A9BAE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5" y="1586603"/>
            <a:ext cx="6161070" cy="36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25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C65A0FB-25A2-4FE0-8AF4-AE0F3358EFE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SCALABILITY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9DC248-FDAE-485D-9EA6-4B52CE7BC58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Offline learning and online scoring are separated to bound latency and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ED5D0D-9A00-48FA-9F74-0A6F706B19F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DEB790-05CD-4FC1-B82C-1848555770D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9F853D-93AE-4695-A0FC-6E17804A9EE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562547-C54C-43CA-9E26-DEA638D64D6A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Commit transaction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BA959A-E89B-4738-B6F4-869ADEE828E3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23431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Persist once; keep the decision path short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50DB1-1202-4B90-BB42-002D6F4FFFC3}"/>
              </a:ext>
            </a:extLst>
          </p:cNvPr>
          <p:cNvSpPr>
            <a:spLocks noGrp="1"/>
          </p:cNvSpPr>
          <p:nvPr/>
        </p:nvSpPr>
        <p:spPr>
          <a:xfrm>
            <a:off x="3352800" y="1657350"/>
            <a:ext cx="495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50E399-572D-464F-8E5C-EEF74BAEF07E}"/>
              </a:ext>
            </a:extLst>
          </p:cNvPr>
          <p:cNvSpPr>
            <a:spLocks noGrp="1"/>
          </p:cNvSpPr>
          <p:nvPr/>
        </p:nvSpPr>
        <p:spPr>
          <a:xfrm>
            <a:off x="3352800" y="21907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Read point-in-time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DEE92D-081A-477F-A374-52C4DCE4F54F}"/>
              </a:ext>
            </a:extLst>
          </p:cNvPr>
          <p:cNvSpPr>
            <a:spLocks noGrp="1"/>
          </p:cNvSpPr>
          <p:nvPr/>
        </p:nvSpPr>
        <p:spPr>
          <a:xfrm>
            <a:off x="3352800" y="2876550"/>
            <a:ext cx="23431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Bounded history and loaded profile state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58D91D-5177-4D9A-9532-173C4B0AF707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495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716377-F97A-4841-AB85-51B62E06B59B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Score loaded artifacts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B1022D-31B7-4067-915B-3ED1C04954C3}"/>
              </a:ext>
            </a:extLst>
          </p:cNvPr>
          <p:cNvSpPr>
            <a:spLocks noGrp="1"/>
          </p:cNvSpPr>
          <p:nvPr/>
        </p:nvSpPr>
        <p:spPr>
          <a:xfrm>
            <a:off x="6096000" y="2876550"/>
            <a:ext cx="23431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No retraining inside the request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78EB9B-EDC6-40DF-95CE-28DA189C7671}"/>
              </a:ext>
            </a:extLst>
          </p:cNvPr>
          <p:cNvSpPr>
            <a:spLocks noGrp="1"/>
          </p:cNvSpPr>
          <p:nvPr/>
        </p:nvSpPr>
        <p:spPr>
          <a:xfrm>
            <a:off x="8839200" y="1657350"/>
            <a:ext cx="495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C9087-1789-4717-833D-D8CB57DF221F}"/>
              </a:ext>
            </a:extLst>
          </p:cNvPr>
          <p:cNvSpPr>
            <a:spLocks noGrp="1"/>
          </p:cNvSpPr>
          <p:nvPr/>
        </p:nvSpPr>
        <p:spPr>
          <a:xfrm>
            <a:off x="8839200" y="21907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1A3A"/>
                </a:solidFill>
              </a:defRPr>
            </a:pPr>
            <a:r>
              <a:rPr sz="1725" b="1">
                <a:solidFill>
                  <a:srgbClr val="081A3A"/>
                </a:solidFill>
              </a:rPr>
              <a:t>Commit decision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6A310A-ADB0-47E7-8F43-238C047F47EF}"/>
              </a:ext>
            </a:extLst>
          </p:cNvPr>
          <p:cNvSpPr>
            <a:spLocks noGrp="1"/>
          </p:cNvSpPr>
          <p:nvPr/>
        </p:nvSpPr>
        <p:spPr>
          <a:xfrm>
            <a:off x="8839200" y="2876550"/>
            <a:ext cx="23431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Create case/STR work after scoring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47C03B-DF71-4D48-940D-C5C674C0E02B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EDC076-CA44-4F9E-9184-C6385126671B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A3A"/>
                </a:solidFill>
              </a:defRPr>
            </a:pPr>
            <a:r>
              <a:rPr sz="1650" b="1">
                <a:solidFill>
                  <a:srgbClr val="081A3A"/>
                </a:solidFill>
              </a:rPr>
              <a:t>Offline training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1B58EA-9D7C-4346-A827-69E93870FE58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B415DC-4C99-4E89-9239-835684361CE1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1024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Keyset export to immutable Parquet parts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9325E2-4540-40B2-AE86-862029B2EFA4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06C391-3A6C-4D66-9107-C7C1641DA784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1024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Compact bounded features avoid the earlier 19.8 GiB one-hot allocation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A02D9D-E129-4624-A7AC-E467086B737C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9169B1-CE9A-4973-A9E7-BCC27FE0B4D9}"/>
              </a:ext>
            </a:extLst>
          </p:cNvPr>
          <p:cNvSpPr>
            <a:spLocks noGrp="1"/>
          </p:cNvSpPr>
          <p:nvPr/>
        </p:nvSpPr>
        <p:spPr>
          <a:xfrm>
            <a:off x="838200" y="5486400"/>
            <a:ext cx="1024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Checksummed snapshots and versioned candidate artifacts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02544E-AFF6-4C71-944D-0E6207EF1C15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AEAD0A-73A4-4BC8-B50F-2C773565261B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24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1A3A"/>
                </a:solidFill>
              </a:defRPr>
            </a:pPr>
            <a:r>
              <a:rPr sz="1350" b="0">
                <a:solidFill>
                  <a:srgbClr val="081A3A"/>
                </a:solidFill>
              </a:rPr>
              <a:t>Kafka is the next transport layer—not the governance store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3EF739-7586-4CF5-9BBA-5C1B98FD81D2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948722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C152D03-72A7-44C3-97BA-2DBA45F9ADB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END-TO-END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1F3842-F081-4063-808F-768C29B9F6B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The prototype closes the loop from data to investigation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96840-0FBF-48C4-8543-ABF00D9774E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9E887-E6F1-4789-B42B-D49E6C2EE86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13369"/>
            <a:ext cx="5143500" cy="219301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17926" y="1524000"/>
            <a:ext cx="4785448" cy="25717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6CE63E-667B-442C-B15F-7E80F6CD5BB5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B8C2D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FFAE8-B093-44F6-A087-3BB4406F8352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81A3A"/>
                </a:solidFill>
              </a:defRPr>
            </a:pPr>
            <a:r>
              <a:rPr sz="1200" b="1">
                <a:solidFill>
                  <a:srgbClr val="081A3A"/>
                </a:solidFill>
              </a:rPr>
              <a:t>Upload &amp; validate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6A3E54-12D2-4D47-B1EB-104FEE1667E5}"/>
              </a:ext>
            </a:extLst>
          </p:cNvPr>
          <p:cNvSpPr>
            <a:spLocks noGrp="1"/>
          </p:cNvSpPr>
          <p:nvPr/>
        </p:nvSpPr>
        <p:spPr>
          <a:xfrm>
            <a:off x="2171700" y="48958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42D113-3DB0-4BED-A9C4-42C68A81D814}"/>
              </a:ext>
            </a:extLst>
          </p:cNvPr>
          <p:cNvSpPr>
            <a:spLocks noGrp="1"/>
          </p:cNvSpPr>
          <p:nvPr/>
        </p:nvSpPr>
        <p:spPr>
          <a:xfrm>
            <a:off x="2438400" y="476250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B8C2D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4D971C-7A4C-403A-B0F3-DEF799B2A204}"/>
              </a:ext>
            </a:extLst>
          </p:cNvPr>
          <p:cNvSpPr>
            <a:spLocks noGrp="1"/>
          </p:cNvSpPr>
          <p:nvPr/>
        </p:nvSpPr>
        <p:spPr>
          <a:xfrm>
            <a:off x="2514600" y="493395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81A3A"/>
                </a:solidFill>
              </a:defRPr>
            </a:pPr>
            <a:r>
              <a:rPr sz="1200" b="1">
                <a:solidFill>
                  <a:srgbClr val="081A3A"/>
                </a:solidFill>
              </a:rPr>
              <a:t>Freeze snapshot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226972-95A5-412F-A604-0C4B4D1326E3}"/>
              </a:ext>
            </a:extLst>
          </p:cNvPr>
          <p:cNvSpPr>
            <a:spLocks noGrp="1"/>
          </p:cNvSpPr>
          <p:nvPr/>
        </p:nvSpPr>
        <p:spPr>
          <a:xfrm>
            <a:off x="4000500" y="48958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A67ABE-D04C-42A2-A527-675AA989101A}"/>
              </a:ext>
            </a:extLst>
          </p:cNvPr>
          <p:cNvSpPr>
            <a:spLocks noGrp="1"/>
          </p:cNvSpPr>
          <p:nvPr/>
        </p:nvSpPr>
        <p:spPr>
          <a:xfrm>
            <a:off x="4267200" y="476250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B8C2D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EFDF2C-F547-4CA2-A8AD-E8276C3E66E9}"/>
              </a:ext>
            </a:extLst>
          </p:cNvPr>
          <p:cNvSpPr>
            <a:spLocks noGrp="1"/>
          </p:cNvSpPr>
          <p:nvPr/>
        </p:nvSpPr>
        <p:spPr>
          <a:xfrm>
            <a:off x="4343400" y="493395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81A3A"/>
                </a:solidFill>
              </a:defRPr>
            </a:pPr>
            <a:r>
              <a:rPr sz="1200" b="1">
                <a:solidFill>
                  <a:srgbClr val="081A3A"/>
                </a:solidFill>
              </a:rPr>
              <a:t>Train &amp; compare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B9B1A-7967-40D0-805F-CE6CCC2A6626}"/>
              </a:ext>
            </a:extLst>
          </p:cNvPr>
          <p:cNvSpPr>
            <a:spLocks noGrp="1"/>
          </p:cNvSpPr>
          <p:nvPr/>
        </p:nvSpPr>
        <p:spPr>
          <a:xfrm>
            <a:off x="5829300" y="48958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A10CDF-C68D-4F24-BF7E-6EB8B92A9851}"/>
              </a:ext>
            </a:extLst>
          </p:cNvPr>
          <p:cNvSpPr>
            <a:spLocks noGrp="1"/>
          </p:cNvSpPr>
          <p:nvPr/>
        </p:nvSpPr>
        <p:spPr>
          <a:xfrm>
            <a:off x="6096000" y="476250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B8C2D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0D55E-7DDE-48E3-9015-0407E26EE94A}"/>
              </a:ext>
            </a:extLst>
          </p:cNvPr>
          <p:cNvSpPr>
            <a:spLocks noGrp="1"/>
          </p:cNvSpPr>
          <p:nvPr/>
        </p:nvSpPr>
        <p:spPr>
          <a:xfrm>
            <a:off x="6172200" y="493395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81A3A"/>
                </a:solidFill>
              </a:defRPr>
            </a:pPr>
            <a:r>
              <a:rPr sz="1200" b="1">
                <a:solidFill>
                  <a:srgbClr val="081A3A"/>
                </a:solidFill>
              </a:rPr>
              <a:t>Configure policy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454356-DD10-4B26-8694-8E0B7DB84E5B}"/>
              </a:ext>
            </a:extLst>
          </p:cNvPr>
          <p:cNvSpPr>
            <a:spLocks noGrp="1"/>
          </p:cNvSpPr>
          <p:nvPr/>
        </p:nvSpPr>
        <p:spPr>
          <a:xfrm>
            <a:off x="7658100" y="48958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03DB54-935F-4A36-B036-C86EA2A5E303}"/>
              </a:ext>
            </a:extLst>
          </p:cNvPr>
          <p:cNvSpPr>
            <a:spLocks noGrp="1"/>
          </p:cNvSpPr>
          <p:nvPr/>
        </p:nvSpPr>
        <p:spPr>
          <a:xfrm>
            <a:off x="7924800" y="476250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B8C2D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C061AB-476B-40FE-9CF9-0857B4F86F79}"/>
              </a:ext>
            </a:extLst>
          </p:cNvPr>
          <p:cNvSpPr>
            <a:spLocks noGrp="1"/>
          </p:cNvSpPr>
          <p:nvPr/>
        </p:nvSpPr>
        <p:spPr>
          <a:xfrm>
            <a:off x="8001000" y="493395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81A3A"/>
                </a:solidFill>
              </a:defRPr>
            </a:pPr>
            <a:r>
              <a:rPr sz="1200" b="1">
                <a:solidFill>
                  <a:srgbClr val="081A3A"/>
                </a:solidFill>
              </a:rPr>
              <a:t>Score transaction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9957F8-DB73-4BB4-99E5-F65AB40E3289}"/>
              </a:ext>
            </a:extLst>
          </p:cNvPr>
          <p:cNvSpPr>
            <a:spLocks noGrp="1"/>
          </p:cNvSpPr>
          <p:nvPr/>
        </p:nvSpPr>
        <p:spPr>
          <a:xfrm>
            <a:off x="9486900" y="4895850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654AC48-30E3-4135-BFA4-BF43D23546C3}"/>
              </a:ext>
            </a:extLst>
          </p:cNvPr>
          <p:cNvSpPr>
            <a:spLocks noGrp="1"/>
          </p:cNvSpPr>
          <p:nvPr/>
        </p:nvSpPr>
        <p:spPr>
          <a:xfrm>
            <a:off x="9753600" y="476250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102A63"/>
          </a:solidFill>
          <a:ln w="9525">
            <a:solidFill>
              <a:srgbClr val="102A63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A910A8-88D7-44DA-9035-AD79B1246F08}"/>
              </a:ext>
            </a:extLst>
          </p:cNvPr>
          <p:cNvSpPr>
            <a:spLocks noGrp="1"/>
          </p:cNvSpPr>
          <p:nvPr/>
        </p:nvSpPr>
        <p:spPr>
          <a:xfrm>
            <a:off x="9829800" y="493395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Review case / STR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5BF3FA-AF4C-43BA-B666-7689835A1DCC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E6F89"/>
                </a:solidFill>
              </a:defRPr>
            </a:pPr>
            <a:r>
              <a:rPr sz="1425" b="1">
                <a:solidFill>
                  <a:srgbClr val="5E6F89"/>
                </a:solidFill>
              </a:rPr>
              <a:t>JWT roles protect administration; model registry and policy versions preserve auditability; pagination keeps investigations usable at scale.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D3D784-620B-4BD9-B88F-7268E4F4A544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1380292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131B68A-1541-43D7-B032-AA8995C5638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D5D509-061B-4CCD-B4BA-6C1D465988B5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1A3A"/>
                </a:solidFill>
              </a:defRPr>
            </a:pPr>
            <a:r>
              <a:rPr sz="2850" b="1">
                <a:solidFill>
                  <a:srgbClr val="081A3A"/>
                </a:solidFill>
              </a:rPr>
              <a:t>The project proves a credible architecture—and exposes the next research target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686C1-5449-4C3B-9AD1-455FF7C56A5A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F89"/>
                </a:solidFill>
              </a:defRPr>
            </a:pPr>
            <a:r>
              <a:rPr sz="1050" b="1">
                <a:solidFill>
                  <a:srgbClr val="5E6F89"/>
                </a:solidFill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5DFCED-8D58-4D0F-848A-6991795C67E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9525"/>
          </a:xfrm>
          <a:prstGeom prst="rect">
            <a:avLst/>
          </a:prstGeom>
          <a:solidFill>
            <a:srgbClr val="B8C2D0"/>
          </a:solidFill>
          <a:ln w="0">
            <a:solidFill>
              <a:srgbClr val="B8C2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78B18-B9E5-46A8-9246-8D55C381A98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A36A"/>
                </a:solidFill>
              </a:defRPr>
            </a:pPr>
            <a:r>
              <a:rPr sz="1350" b="1">
                <a:solidFill>
                  <a:srgbClr val="16A36A"/>
                </a:solidFill>
              </a:rPr>
              <a:t>PROVEN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A2E42-8C40-4A9F-AEAA-12F7E9C237DC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8716DD-C2FD-461A-A608-51A2C6D0E598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Dual-mode learning before and after labels exist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CC1AE4-36A2-43F3-8F3F-671ECDDE6D4C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47BCAE-22ED-43FD-8055-4B14D0A09F53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 dirty="0">
                <a:solidFill>
                  <a:srgbClr val="081A3A"/>
                </a:solidFill>
              </a:rPr>
              <a:t>Oldest-first growth comparison with cached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7A9E19-04AF-460F-82A5-D2B43B45B4EC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E439E4-325A-4DBF-BDB2-77E3B2386900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 dirty="0">
                <a:solidFill>
                  <a:srgbClr val="081A3A"/>
                </a:solidFill>
              </a:rPr>
              <a:t>74.8% precision and 71.8% recall on the strongest reproducible benchmark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237AF3-1683-4240-A4CF-070A8F965929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684101-D525-45FE-9F43-757A257923F2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Explainable four-layer scoring, cases, and draft STR workflow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D7A204-0119-4048-B3D2-149812240D17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endParaRPr sz="1425" b="0" dirty="0">
              <a:solidFill>
                <a:srgbClr val="081A3A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05F23C-5AE1-4B39-9766-2DEFA3A705EE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D92D20"/>
                </a:solidFill>
              </a:defRPr>
            </a:pPr>
            <a:r>
              <a:rPr sz="1350" b="1">
                <a:solidFill>
                  <a:srgbClr val="D92D20"/>
                </a:solidFill>
              </a:rPr>
              <a:t>NOT YET PROVEN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52A898-1E14-490F-B669-8EC9D24C14C2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FDD646-3EC6-4518-8331-75D657628B6B}"/>
              </a:ext>
            </a:extLst>
          </p:cNvPr>
          <p:cNvSpPr>
            <a:spLocks noGrp="1"/>
          </p:cNvSpPr>
          <p:nvPr/>
        </p:nvSpPr>
        <p:spPr>
          <a:xfrm>
            <a:off x="6705600" y="2038350"/>
            <a:ext cx="462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Live-bank generalization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E9899B-AC5D-49CA-AD13-123A0DCE80DD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3E5401-6F35-42B0-B673-D04047075C7B}"/>
              </a:ext>
            </a:extLst>
          </p:cNvPr>
          <p:cNvSpPr>
            <a:spLocks noGrp="1"/>
          </p:cNvSpPr>
          <p:nvPr/>
        </p:nvSpPr>
        <p:spPr>
          <a:xfrm>
            <a:off x="6705600" y="2590800"/>
            <a:ext cx="462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Production false-positive cost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EC60A8-8113-45B0-B84B-54796435FCB6}"/>
              </a:ext>
            </a:extLst>
          </p:cNvPr>
          <p:cNvSpPr>
            <a:spLocks noGrp="1"/>
          </p:cNvSpPr>
          <p:nvPr/>
        </p:nvSpPr>
        <p:spPr>
          <a:xfrm>
            <a:off x="6477000" y="3219450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EC10FE-F116-445D-8851-47584C64E25B}"/>
              </a:ext>
            </a:extLst>
          </p:cNvPr>
          <p:cNvSpPr>
            <a:spLocks noGrp="1"/>
          </p:cNvSpPr>
          <p:nvPr/>
        </p:nvSpPr>
        <p:spPr>
          <a:xfrm>
            <a:off x="6705600" y="3143250"/>
            <a:ext cx="462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>
                <a:solidFill>
                  <a:srgbClr val="081A3A"/>
                </a:solidFill>
              </a:rPr>
              <a:t>Fairness across customer segments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87A451-A26F-4C1B-B09B-950499258D37}"/>
              </a:ext>
            </a:extLst>
          </p:cNvPr>
          <p:cNvSpPr>
            <a:spLocks noGrp="1"/>
          </p:cNvSpPr>
          <p:nvPr/>
        </p:nvSpPr>
        <p:spPr>
          <a:xfrm>
            <a:off x="6477000" y="3715927"/>
            <a:ext cx="76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8C6A3A-BFEB-4EDB-9CF8-A592176B9AF3}"/>
              </a:ext>
            </a:extLst>
          </p:cNvPr>
          <p:cNvSpPr>
            <a:spLocks noGrp="1"/>
          </p:cNvSpPr>
          <p:nvPr/>
        </p:nvSpPr>
        <p:spPr>
          <a:xfrm>
            <a:off x="6724650" y="3562350"/>
            <a:ext cx="462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81A3A"/>
                </a:solidFill>
              </a:defRPr>
            </a:pPr>
            <a:r>
              <a:rPr sz="1425" b="0" dirty="0">
                <a:solidFill>
                  <a:srgbClr val="081A3A"/>
                </a:solidFill>
              </a:rPr>
              <a:t>Regulatory acceptance of generated STR XML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A2AC14-E1EA-4E82-B0C0-E6173F03BD65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762000"/>
          </a:xfrm>
          <a:prstGeom prst="rect">
            <a:avLst/>
          </a:prstGeom>
          <a:solidFill>
            <a:srgbClr val="102A63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685387-3808-4679-9471-399D76C433F4}"/>
              </a:ext>
            </a:extLst>
          </p:cNvPr>
          <p:cNvSpPr>
            <a:spLocks noGrp="1"/>
          </p:cNvSpPr>
          <p:nvPr/>
        </p:nvSpPr>
        <p:spPr>
          <a:xfrm>
            <a:off x="838200" y="53911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Next research milestone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A53121-9AE7-4A39-83EB-AF3A049C84B4}"/>
              </a:ext>
            </a:extLst>
          </p:cNvPr>
          <p:cNvSpPr>
            <a:spLocks noGrp="1"/>
          </p:cNvSpPr>
          <p:nvPr/>
        </p:nvSpPr>
        <p:spPr>
          <a:xfrm>
            <a:off x="3181350" y="5334000"/>
            <a:ext cx="790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Calibrate customer, peer, ML, and rule weights on a separate validation period—then prove improvement on an untouched future window.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EBB77F-4565-40F3-9DAD-1815F0B1C5B1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E6F89"/>
                </a:solidFill>
              </a:defRPr>
            </a:pPr>
            <a:r>
              <a:rPr sz="750" b="1">
                <a:solidFill>
                  <a:srgbClr val="5E6F89"/>
                </a:solidFill>
              </a:rPr>
              <a:t>INTELLIGENT FRAUD TRANSACTION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15760449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1976</Words>
  <Application>Microsoft Office PowerPoint</Application>
  <DocSecurity>0</DocSecurity>
  <PresentationFormat>Widescreen</PresentationFormat>
  <Paragraphs>320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Md. Mydul Islam Anik</cp:lastModifiedBy>
  <cp:revision>7</cp:revision>
  <dcterms:created xsi:type="dcterms:W3CDTF">2026-08-15T07:49:14Z</dcterms:created>
  <dcterms:modified xsi:type="dcterms:W3CDTF">2026-08-15T08:30:28Z</dcterms:modified>
</cp:coreProperties>
</file>